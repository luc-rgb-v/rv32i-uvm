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76" r:id="rId2"/>
    <p:sldId id="277" r:id="rId3"/>
    <p:sldId id="281" r:id="rId4"/>
    <p:sldId id="282" r:id="rId5"/>
    <p:sldId id="283" r:id="rId6"/>
    <p:sldId id="288" r:id="rId7"/>
    <p:sldId id="289" r:id="rId8"/>
    <p:sldId id="290" r:id="rId9"/>
    <p:sldId id="284" r:id="rId10"/>
    <p:sldId id="272" r:id="rId11"/>
    <p:sldId id="273" r:id="rId12"/>
    <p:sldId id="285" r:id="rId13"/>
    <p:sldId id="286" r:id="rId14"/>
    <p:sldId id="298" r:id="rId15"/>
    <p:sldId id="299" r:id="rId16"/>
    <p:sldId id="300" r:id="rId17"/>
    <p:sldId id="274" r:id="rId18"/>
    <p:sldId id="266" r:id="rId19"/>
    <p:sldId id="275" r:id="rId20"/>
    <p:sldId id="291" r:id="rId21"/>
    <p:sldId id="292" r:id="rId22"/>
    <p:sldId id="29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7AFD58-8A48-4D99-8968-5BF9D56DDA5F}" type="datetimeFigureOut">
              <a:rPr lang="en-US" smtClean="0"/>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FEE58-7622-4A25-BC76-BCD353E94B8A}" type="slidenum">
              <a:rPr lang="en-US" smtClean="0"/>
              <a:t>‹#›</a:t>
            </a:fld>
            <a:endParaRPr lang="en-US"/>
          </a:p>
        </p:txBody>
      </p:sp>
    </p:spTree>
    <p:extLst>
      <p:ext uri="{BB962C8B-B14F-4D97-AF65-F5344CB8AC3E}">
        <p14:creationId xmlns:p14="http://schemas.microsoft.com/office/powerpoint/2010/main" val="337939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D622D0F-00B3-46DB-8F5B-5CF530825645}" type="datetime1">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1419020391"/>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B9AF4D-E50C-4929-9526-A73BEB8CD2AD}" type="datetime1">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245957335"/>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2ED11B-258C-4C39-A494-BA356CD71B0E}" type="datetime1">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4281376628"/>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0BD96C-9C31-4FB7-BE57-AB223D2D88A9}" type="datetime1">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2427698830"/>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D77AD0-4433-468F-8BF5-B7E1567584CA}" type="datetime1">
              <a:rPr lang="en-US" smtClean="0"/>
              <a:t>9/8/2025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1706992653"/>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10735F-3288-4DB3-B2B6-4C30FA14F37D}" type="datetime1">
              <a:rPr lang="en-US" smtClean="0"/>
              <a:t>9/8/2025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1314911212"/>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334B70-1805-4730-A8AD-58596AC1E5D6}" type="datetime1">
              <a:rPr lang="en-US" smtClean="0"/>
              <a:t>9/8/2025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901588208"/>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D68189F-774C-4A9D-8F2E-412B47C439FA}" type="datetime1">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1805161493"/>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5048E3F-5DD1-4074-88F7-7E24274F38DF}" type="datetime1">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4179941867"/>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792962-D883-4678-AE4D-4D4FBE7F93EA}" type="datetime1">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2808033645"/>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22BC7B-DA89-428B-97BC-31B205D46B8B}" type="datetime1">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3D0EC-E5D6-4C0D-98AB-7F70DA2736DE}" type="slidenum">
              <a:rPr lang="en-US" smtClean="0"/>
              <a:t>‹#›</a:t>
            </a:fld>
            <a:endParaRPr lang="en-US"/>
          </a:p>
        </p:txBody>
      </p:sp>
    </p:spTree>
    <p:extLst>
      <p:ext uri="{BB962C8B-B14F-4D97-AF65-F5344CB8AC3E}">
        <p14:creationId xmlns:p14="http://schemas.microsoft.com/office/powerpoint/2010/main" val="609859580"/>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t>Click to edit Master title style</a:t>
            </a:r>
            <a:endParaRP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7326FC8A-F8D0-47DB-AA5B-4897755618D1}" type="datetime1">
              <a:rPr lang="en-US" smtClean="0"/>
              <a:t>9/8/2025</a:t>
            </a:fld>
            <a:endParaRPr lang="en-US"/>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05F3D0EC-E5D6-4C0D-98AB-7F70DA2736DE}" type="slidenum">
              <a:rPr lang="en-US" smtClean="0"/>
              <a:t>‹#›</a:t>
            </a:fld>
            <a:endParaRPr lang="en-US"/>
          </a:p>
        </p:txBody>
      </p:sp>
    </p:spTree>
    <p:extLst>
      <p:ext uri="{BB962C8B-B14F-4D97-AF65-F5344CB8AC3E}">
        <p14:creationId xmlns:p14="http://schemas.microsoft.com/office/powerpoint/2010/main" val="1414324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wipe/>
      </p:transition>
    </mc:Choice>
    <mc:Fallback xmlns="">
      <p:transition>
        <p:wipe/>
      </p:transition>
    </mc:Fallback>
  </mc:AlternateConten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E46D-D965-1B91-B820-28E506D4485A}"/>
              </a:ext>
            </a:extLst>
          </p:cNvPr>
          <p:cNvSpPr>
            <a:spLocks noGrp="1"/>
          </p:cNvSpPr>
          <p:nvPr>
            <p:ph type="title"/>
          </p:nvPr>
        </p:nvSpPr>
        <p:spPr>
          <a:xfrm>
            <a:off x="-127820" y="835077"/>
            <a:ext cx="12447639" cy="1141207"/>
          </a:xfrm>
        </p:spPr>
        <p:txBody>
          <a:bodyPr/>
          <a:lstStyle/>
          <a:p>
            <a:r>
              <a:rPr lang="en-US" sz="3000" dirty="0"/>
              <a:t>Project: </a:t>
            </a:r>
            <a:r>
              <a:rPr lang="en-SG" sz="3000" b="1" dirty="0"/>
              <a:t>VERIFICATION OF A 5-STAGE PIPELINED RISC-V RV32IM PROCESSOR USING UVM</a:t>
            </a:r>
            <a:endParaRPr lang="en-US" sz="3000" dirty="0"/>
          </a:p>
        </p:txBody>
      </p:sp>
      <p:sp>
        <p:nvSpPr>
          <p:cNvPr id="3" name="Content Placeholder 2">
            <a:extLst>
              <a:ext uri="{FF2B5EF4-FFF2-40B4-BE49-F238E27FC236}">
                <a16:creationId xmlns:a16="http://schemas.microsoft.com/office/drawing/2014/main" id="{F49EBCA1-CF8A-4A2A-1CB8-7E3404BFF8BB}"/>
              </a:ext>
            </a:extLst>
          </p:cNvPr>
          <p:cNvSpPr>
            <a:spLocks noGrp="1"/>
          </p:cNvSpPr>
          <p:nvPr>
            <p:ph idx="1"/>
          </p:nvPr>
        </p:nvSpPr>
        <p:spPr>
          <a:xfrm>
            <a:off x="6636774" y="3918461"/>
            <a:ext cx="4650658" cy="2104462"/>
          </a:xfrm>
        </p:spPr>
        <p:txBody>
          <a:bodyPr/>
          <a:lstStyle/>
          <a:p>
            <a:pPr marL="0" indent="0">
              <a:buNone/>
            </a:pPr>
            <a:r>
              <a:rPr lang="en-SG" sz="2200" b="1" dirty="0"/>
              <a:t>Members:</a:t>
            </a:r>
            <a:endParaRPr lang="en-US" sz="2200" dirty="0"/>
          </a:p>
          <a:p>
            <a:pPr marL="0" indent="0">
              <a:buNone/>
            </a:pPr>
            <a:r>
              <a:rPr lang="en-US" sz="2200" dirty="0"/>
              <a:t>Huỳnh Dương Tôn Lực – 21161252</a:t>
            </a:r>
          </a:p>
          <a:p>
            <a:pPr marL="0" indent="0">
              <a:buNone/>
            </a:pPr>
            <a:r>
              <a:rPr lang="en-US" sz="2200" dirty="0"/>
              <a:t>Ngô Quốc An – </a:t>
            </a:r>
            <a:r>
              <a:rPr lang="en-SG" sz="2200" dirty="0"/>
              <a:t>21161226</a:t>
            </a:r>
            <a:endParaRPr lang="en-US" sz="2200" dirty="0"/>
          </a:p>
          <a:p>
            <a:pPr marL="0" indent="0">
              <a:buNone/>
            </a:pPr>
            <a:r>
              <a:rPr lang="en-US" sz="2200" dirty="0"/>
              <a:t>Bùi Ngọc Duy Tân – </a:t>
            </a:r>
            <a:r>
              <a:rPr lang="en-SG" sz="2200" dirty="0"/>
              <a:t>21161266</a:t>
            </a:r>
            <a:endParaRPr lang="en-US" sz="2200" dirty="0"/>
          </a:p>
          <a:p>
            <a:pPr marL="0" indent="0">
              <a:buNone/>
            </a:pPr>
            <a:r>
              <a:rPr lang="en-US" sz="2200" dirty="0"/>
              <a:t>Trương Quốc Tuấn – 22161084</a:t>
            </a:r>
          </a:p>
        </p:txBody>
      </p:sp>
      <p:sp>
        <p:nvSpPr>
          <p:cNvPr id="4" name="Slide Number Placeholder 3">
            <a:extLst>
              <a:ext uri="{FF2B5EF4-FFF2-40B4-BE49-F238E27FC236}">
                <a16:creationId xmlns:a16="http://schemas.microsoft.com/office/drawing/2014/main" id="{8DB25DDE-4CF1-FD33-9C50-11967564E0B4}"/>
              </a:ext>
            </a:extLst>
          </p:cNvPr>
          <p:cNvSpPr>
            <a:spLocks noGrp="1"/>
          </p:cNvSpPr>
          <p:nvPr>
            <p:ph type="sldNum" sz="quarter" idx="12"/>
          </p:nvPr>
        </p:nvSpPr>
        <p:spPr/>
        <p:txBody>
          <a:bodyPr/>
          <a:lstStyle/>
          <a:p>
            <a:fld id="{05F3D0EC-E5D6-4C0D-98AB-7F70DA2736DE}" type="slidenum">
              <a:rPr lang="en-US" smtClean="0"/>
              <a:t>1</a:t>
            </a:fld>
            <a:endParaRPr lang="en-US"/>
          </a:p>
        </p:txBody>
      </p:sp>
      <p:sp>
        <p:nvSpPr>
          <p:cNvPr id="6" name="TextBox 5">
            <a:extLst>
              <a:ext uri="{FF2B5EF4-FFF2-40B4-BE49-F238E27FC236}">
                <a16:creationId xmlns:a16="http://schemas.microsoft.com/office/drawing/2014/main" id="{81FB9DAE-3655-EF18-567E-D4AFD934DAF8}"/>
              </a:ext>
            </a:extLst>
          </p:cNvPr>
          <p:cNvSpPr txBox="1"/>
          <p:nvPr/>
        </p:nvSpPr>
        <p:spPr>
          <a:xfrm>
            <a:off x="668593" y="2607385"/>
            <a:ext cx="10785987" cy="769441"/>
          </a:xfrm>
          <a:prstGeom prst="rect">
            <a:avLst/>
          </a:prstGeom>
          <a:noFill/>
        </p:spPr>
        <p:txBody>
          <a:bodyPr wrap="square">
            <a:spAutoFit/>
          </a:bodyPr>
          <a:lstStyle/>
          <a:p>
            <a:pPr algn="ctr"/>
            <a:r>
              <a:rPr lang="en-US" sz="4400" dirty="0"/>
              <a:t>Review and Analysis of Technical Papers</a:t>
            </a:r>
          </a:p>
        </p:txBody>
      </p:sp>
      <p:pic>
        <p:nvPicPr>
          <p:cNvPr id="7" name="Picture 2" descr="RISC-V Announces First New Specifications of 2022, Adding to 16 Ratified in  2021 | RISC-V International – RISC-V International">
            <a:extLst>
              <a:ext uri="{FF2B5EF4-FFF2-40B4-BE49-F238E27FC236}">
                <a16:creationId xmlns:a16="http://schemas.microsoft.com/office/drawing/2014/main" id="{7FD5CB4C-ECEC-484A-67C4-81F0376FCB0E}"/>
              </a:ext>
            </a:extLst>
          </p:cNvPr>
          <p:cNvPicPr>
            <a:picLocks noChangeAspect="1" noChangeArrowheads="1"/>
          </p:cNvPicPr>
          <p:nvPr/>
        </p:nvPicPr>
        <p:blipFill rotWithShape="1">
          <a:blip r:embed="rId2">
            <a:alphaModFix amt="29000"/>
            <a:extLst>
              <a:ext uri="{28A0092B-C50C-407E-A947-70E740481C1C}">
                <a14:useLocalDpi xmlns:a14="http://schemas.microsoft.com/office/drawing/2010/main" val="0"/>
              </a:ext>
            </a:extLst>
          </a:blip>
          <a:srcRect t="34381" b="29508"/>
          <a:stretch>
            <a:fillRect/>
          </a:stretch>
        </p:blipFill>
        <p:spPr bwMode="auto">
          <a:xfrm>
            <a:off x="1602657" y="3918461"/>
            <a:ext cx="3470786" cy="70501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Antmicro · Initial open source support for UVM testbenches in Verilator">
            <a:extLst>
              <a:ext uri="{FF2B5EF4-FFF2-40B4-BE49-F238E27FC236}">
                <a16:creationId xmlns:a16="http://schemas.microsoft.com/office/drawing/2014/main" id="{C0EEEC6B-919C-F60B-3D0A-31D7335F8D80}"/>
              </a:ext>
            </a:extLst>
          </p:cNvPr>
          <p:cNvPicPr>
            <a:picLocks noChangeAspect="1" noChangeArrowheads="1"/>
          </p:cNvPicPr>
          <p:nvPr/>
        </p:nvPicPr>
        <p:blipFill>
          <a:blip r:embed="rId3">
            <a:alphaModFix amt="29000"/>
            <a:extLst>
              <a:ext uri="{28A0092B-C50C-407E-A947-70E740481C1C}">
                <a14:useLocalDpi xmlns:a14="http://schemas.microsoft.com/office/drawing/2010/main" val="0"/>
              </a:ext>
            </a:extLst>
          </a:blip>
          <a:srcRect/>
          <a:stretch>
            <a:fillRect/>
          </a:stretch>
        </p:blipFill>
        <p:spPr bwMode="auto">
          <a:xfrm>
            <a:off x="1789472" y="4503075"/>
            <a:ext cx="3097157" cy="174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144203"/>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C6705A-B6AF-7CB7-A35E-776622ACCBF9}"/>
              </a:ext>
            </a:extLst>
          </p:cNvPr>
          <p:cNvSpPr txBox="1"/>
          <p:nvPr/>
        </p:nvSpPr>
        <p:spPr>
          <a:xfrm>
            <a:off x="545689" y="814829"/>
            <a:ext cx="11182710" cy="923330"/>
          </a:xfrm>
          <a:prstGeom prst="rect">
            <a:avLst/>
          </a:prstGeom>
          <a:noFill/>
        </p:spPr>
        <p:txBody>
          <a:bodyPr wrap="square">
            <a:spAutoFit/>
          </a:bodyPr>
          <a:lstStyle/>
          <a:p>
            <a:pPr algn="just"/>
            <a:r>
              <a:rPr lang="en-US" kern="100" dirty="0">
                <a:effectLst/>
                <a:ea typeface="Aptos" panose="020B0004020202020204" pitchFamily="34" charset="0"/>
              </a:rPr>
              <a:t>[1</a:t>
            </a:r>
            <a:r>
              <a:rPr lang="en-US" kern="100" dirty="0">
                <a:ea typeface="Aptos" panose="020B0004020202020204" pitchFamily="34" charset="0"/>
              </a:rPr>
              <a:t>]</a:t>
            </a:r>
            <a:r>
              <a:rPr lang="en-US" kern="100" dirty="0">
                <a:effectLst/>
                <a:ea typeface="Aptos" panose="020B0004020202020204" pitchFamily="34" charset="0"/>
              </a:rPr>
              <a:t> </a:t>
            </a:r>
            <a:r>
              <a:rPr lang="en-US" kern="100" dirty="0" err="1">
                <a:effectLst/>
                <a:ea typeface="Aptos" panose="020B0004020202020204" pitchFamily="34" charset="0"/>
              </a:rPr>
              <a:t>Mallidu</a:t>
            </a:r>
            <a:r>
              <a:rPr lang="en-US" kern="100" dirty="0">
                <a:effectLst/>
                <a:ea typeface="Aptos" panose="020B0004020202020204" pitchFamily="34" charset="0"/>
              </a:rPr>
              <a:t>, J. and </a:t>
            </a:r>
            <a:r>
              <a:rPr lang="en-US" kern="100" dirty="0" err="1">
                <a:effectLst/>
                <a:ea typeface="Aptos" panose="020B0004020202020204" pitchFamily="34" charset="0"/>
              </a:rPr>
              <a:t>Siddamal</a:t>
            </a:r>
            <a:r>
              <a:rPr lang="en-US" kern="100" dirty="0">
                <a:effectLst/>
                <a:ea typeface="Aptos" panose="020B0004020202020204" pitchFamily="34" charset="0"/>
              </a:rPr>
              <a:t>, S.V., 2022. </a:t>
            </a:r>
            <a:r>
              <a:rPr lang="en-US" b="1" kern="100" dirty="0">
                <a:effectLst/>
                <a:ea typeface="Aptos" panose="020B0004020202020204" pitchFamily="34" charset="0"/>
              </a:rPr>
              <a:t>A survey on in-order 5-stage pipeline RISC-V processor implementation</a:t>
            </a:r>
            <a:r>
              <a:rPr lang="en-US" kern="100" dirty="0">
                <a:effectLst/>
                <a:ea typeface="Aptos" panose="020B0004020202020204" pitchFamily="34" charset="0"/>
              </a:rPr>
              <a:t>. In </a:t>
            </a:r>
            <a:r>
              <a:rPr lang="en-US" i="1" kern="100" dirty="0">
                <a:effectLst/>
                <a:ea typeface="Aptos" panose="020B0004020202020204" pitchFamily="34" charset="0"/>
              </a:rPr>
              <a:t>Information and Communication Technology for Competitive Strategies (ICTCS 2021) Intelligent Strategies for ICT</a:t>
            </a:r>
            <a:r>
              <a:rPr lang="en-US" kern="100" dirty="0">
                <a:effectLst/>
                <a:ea typeface="Aptos" panose="020B0004020202020204" pitchFamily="34" charset="0"/>
              </a:rPr>
              <a:t> (pp. 777-784). Singapore: Springer Nature Singapore</a:t>
            </a:r>
            <a:endParaRPr lang="en-US" dirty="0"/>
          </a:p>
        </p:txBody>
      </p:sp>
      <p:sp>
        <p:nvSpPr>
          <p:cNvPr id="7" name="TextBox 6">
            <a:extLst>
              <a:ext uri="{FF2B5EF4-FFF2-40B4-BE49-F238E27FC236}">
                <a16:creationId xmlns:a16="http://schemas.microsoft.com/office/drawing/2014/main" id="{00B3D41C-A9A7-51E3-B5A6-F34E37C83593}"/>
              </a:ext>
            </a:extLst>
          </p:cNvPr>
          <p:cNvSpPr txBox="1"/>
          <p:nvPr/>
        </p:nvSpPr>
        <p:spPr>
          <a:xfrm>
            <a:off x="545689" y="1829628"/>
            <a:ext cx="11182710" cy="775084"/>
          </a:xfrm>
          <a:prstGeom prst="rect">
            <a:avLst/>
          </a:prstGeom>
          <a:noFill/>
        </p:spPr>
        <p:txBody>
          <a:bodyPr wrap="square">
            <a:spAutoFit/>
          </a:bodyPr>
          <a:lstStyle/>
          <a:p>
            <a:pPr algn="just">
              <a:lnSpc>
                <a:spcPct val="130000"/>
              </a:lnSpc>
              <a:spcBef>
                <a:spcPts val="600"/>
              </a:spcBef>
              <a:spcAft>
                <a:spcPts val="600"/>
              </a:spcAft>
            </a:pPr>
            <a:r>
              <a:rPr lang="en-US" kern="100" dirty="0">
                <a:ea typeface="Aptos" panose="020B0004020202020204" pitchFamily="34" charset="0"/>
                <a:cs typeface="Times New Roman" panose="02020603050405020304" pitchFamily="18" charset="0"/>
              </a:rPr>
              <a:t>[5]</a:t>
            </a:r>
            <a:r>
              <a:rPr lang="en-US" dirty="0"/>
              <a:t> Katke, S. P., &amp; Jain, G. P. (2012). </a:t>
            </a:r>
            <a:r>
              <a:rPr lang="en-US" b="1" dirty="0"/>
              <a:t>Design and implementation of 5 stages pipelined architecture in 32 bit </a:t>
            </a:r>
            <a:r>
              <a:rPr lang="en-US" b="1" dirty="0" err="1"/>
              <a:t>risc</a:t>
            </a:r>
            <a:r>
              <a:rPr lang="en-US" b="1" dirty="0"/>
              <a:t> processor</a:t>
            </a:r>
            <a:r>
              <a:rPr lang="en-US" dirty="0"/>
              <a:t>. </a:t>
            </a:r>
            <a:r>
              <a:rPr lang="en-US" i="1" dirty="0"/>
              <a:t>International Journal of Emerging Technology and Advanced Engineering</a:t>
            </a:r>
            <a:r>
              <a:rPr lang="en-US" dirty="0"/>
              <a:t>, </a:t>
            </a:r>
            <a:r>
              <a:rPr lang="en-US" i="1" dirty="0"/>
              <a:t>2</a:t>
            </a:r>
            <a:r>
              <a:rPr lang="en-US" dirty="0"/>
              <a:t>(4), 340-346.</a:t>
            </a:r>
            <a:endParaRPr lang="en-US" kern="100" dirty="0">
              <a:effectLst/>
              <a:ea typeface="Yu Gothic" panose="020B0400000000000000"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0D3860F3-FC88-7829-D88F-5C4A0F3F2060}"/>
              </a:ext>
            </a:extLst>
          </p:cNvPr>
          <p:cNvSpPr txBox="1"/>
          <p:nvPr/>
        </p:nvSpPr>
        <p:spPr>
          <a:xfrm>
            <a:off x="545689" y="2805808"/>
            <a:ext cx="11182710" cy="923330"/>
          </a:xfrm>
          <a:prstGeom prst="rect">
            <a:avLst/>
          </a:prstGeom>
          <a:noFill/>
        </p:spPr>
        <p:txBody>
          <a:bodyPr wrap="square">
            <a:spAutoFit/>
          </a:bodyPr>
          <a:lstStyle/>
          <a:p>
            <a:pPr algn="just"/>
            <a:r>
              <a:rPr lang="en-US" dirty="0"/>
              <a:t>[3] Miyazaki, H., Kanamori, T., Islam, M.A. and Kise, K., 2020. </a:t>
            </a:r>
            <a:r>
              <a:rPr lang="en-US" b="1" dirty="0" err="1"/>
              <a:t>RVCoreP</a:t>
            </a:r>
            <a:r>
              <a:rPr lang="en-US" b="1" dirty="0"/>
              <a:t>: An optimized RISC-V soft processor of five-stage pipelining</a:t>
            </a:r>
            <a:r>
              <a:rPr lang="en-US" dirty="0"/>
              <a:t>. </a:t>
            </a:r>
            <a:r>
              <a:rPr lang="en-US" i="1" dirty="0"/>
              <a:t>IEICE TRANSACTIONS on Information and Systems</a:t>
            </a:r>
            <a:r>
              <a:rPr lang="en-US" dirty="0"/>
              <a:t>, </a:t>
            </a:r>
            <a:r>
              <a:rPr lang="en-US" i="1" dirty="0"/>
              <a:t>103</a:t>
            </a:r>
            <a:r>
              <a:rPr lang="en-US" dirty="0"/>
              <a:t>(12), pp.2494-2503.</a:t>
            </a:r>
          </a:p>
        </p:txBody>
      </p:sp>
      <p:sp>
        <p:nvSpPr>
          <p:cNvPr id="11" name="TextBox 10">
            <a:extLst>
              <a:ext uri="{FF2B5EF4-FFF2-40B4-BE49-F238E27FC236}">
                <a16:creationId xmlns:a16="http://schemas.microsoft.com/office/drawing/2014/main" id="{627929DA-3F15-D57F-9B03-BC8A4638FCA3}"/>
              </a:ext>
            </a:extLst>
          </p:cNvPr>
          <p:cNvSpPr txBox="1"/>
          <p:nvPr/>
        </p:nvSpPr>
        <p:spPr>
          <a:xfrm>
            <a:off x="504645" y="5243590"/>
            <a:ext cx="11182710" cy="775084"/>
          </a:xfrm>
          <a:prstGeom prst="rect">
            <a:avLst/>
          </a:prstGeom>
          <a:noFill/>
        </p:spPr>
        <p:txBody>
          <a:bodyPr wrap="square">
            <a:spAutoFit/>
          </a:bodyPr>
          <a:lstStyle/>
          <a:p>
            <a:pPr marL="0" marR="0" algn="just">
              <a:lnSpc>
                <a:spcPct val="130000"/>
              </a:lnSpc>
              <a:spcBef>
                <a:spcPts val="600"/>
              </a:spcBef>
              <a:spcAft>
                <a:spcPts val="600"/>
              </a:spcAft>
              <a:buNone/>
            </a:pPr>
            <a:r>
              <a:rPr lang="en-US" kern="100" dirty="0">
                <a:effectLst/>
                <a:ea typeface="Aptos" panose="020B0004020202020204" pitchFamily="34" charset="0"/>
                <a:cs typeface="Times New Roman" panose="02020603050405020304" pitchFamily="18" charset="0"/>
              </a:rPr>
              <a:t>[6]</a:t>
            </a:r>
            <a:r>
              <a:rPr lang="en-US" kern="100" dirty="0">
                <a:solidFill>
                  <a:srgbClr val="222222"/>
                </a:solidFill>
                <a:effectLst/>
                <a:ea typeface="Aptos" panose="020B0004020202020204" pitchFamily="34" charset="0"/>
                <a:cs typeface="Times New Roman" panose="02020603050405020304" pitchFamily="18" charset="0"/>
              </a:rPr>
              <a:t> </a:t>
            </a:r>
            <a:r>
              <a:rPr lang="en-SG" kern="100" dirty="0">
                <a:effectLst/>
                <a:ea typeface="Aptos" panose="020B0004020202020204" pitchFamily="34" charset="0"/>
                <a:cs typeface="Times New Roman" panose="02020603050405020304" pitchFamily="18" charset="0"/>
              </a:rPr>
              <a:t>Barraco, L., 2021. </a:t>
            </a:r>
            <a:r>
              <a:rPr lang="en-SG" b="1" i="1" kern="100" dirty="0">
                <a:effectLst/>
                <a:ea typeface="Aptos" panose="020B0004020202020204" pitchFamily="34" charset="0"/>
                <a:cs typeface="Times New Roman" panose="02020603050405020304" pitchFamily="18" charset="0"/>
              </a:rPr>
              <a:t>UVM Environment for RISC-V processor</a:t>
            </a:r>
            <a:r>
              <a:rPr lang="en-SG" b="1" kern="100" dirty="0">
                <a:effectLst/>
                <a:ea typeface="Aptos" panose="020B0004020202020204" pitchFamily="34" charset="0"/>
                <a:cs typeface="Times New Roman" panose="02020603050405020304" pitchFamily="18" charset="0"/>
              </a:rPr>
              <a:t> </a:t>
            </a:r>
            <a:r>
              <a:rPr lang="en-SG" kern="100" dirty="0">
                <a:effectLst/>
                <a:ea typeface="Aptos" panose="020B0004020202020204" pitchFamily="34" charset="0"/>
                <a:cs typeface="Times New Roman" panose="02020603050405020304" pitchFamily="18" charset="0"/>
              </a:rPr>
              <a:t>(Doctoral dissertation, </a:t>
            </a:r>
            <a:r>
              <a:rPr lang="en-SG" kern="100" dirty="0" err="1">
                <a:effectLst/>
                <a:ea typeface="Aptos" panose="020B0004020202020204" pitchFamily="34" charset="0"/>
                <a:cs typeface="Times New Roman" panose="02020603050405020304" pitchFamily="18" charset="0"/>
              </a:rPr>
              <a:t>Politecnico</a:t>
            </a:r>
            <a:r>
              <a:rPr lang="en-SG" kern="100" dirty="0">
                <a:effectLst/>
                <a:ea typeface="Aptos" panose="020B0004020202020204" pitchFamily="34" charset="0"/>
                <a:cs typeface="Times New Roman" panose="02020603050405020304" pitchFamily="18" charset="0"/>
              </a:rPr>
              <a:t> di Torino).</a:t>
            </a:r>
            <a:endParaRPr lang="en-US" kern="100" dirty="0">
              <a:effectLst/>
              <a:ea typeface="Yu Gothic" panose="020B0400000000000000" pitchFamily="34" charset="-128"/>
              <a:cs typeface="Times New Roman" panose="02020603050405020304" pitchFamily="18" charset="0"/>
            </a:endParaRPr>
          </a:p>
        </p:txBody>
      </p:sp>
      <p:sp>
        <p:nvSpPr>
          <p:cNvPr id="13" name="TextBox 12">
            <a:extLst>
              <a:ext uri="{FF2B5EF4-FFF2-40B4-BE49-F238E27FC236}">
                <a16:creationId xmlns:a16="http://schemas.microsoft.com/office/drawing/2014/main" id="{F1097304-7227-1137-4D1D-B39E035CD14B}"/>
              </a:ext>
            </a:extLst>
          </p:cNvPr>
          <p:cNvSpPr txBox="1"/>
          <p:nvPr/>
        </p:nvSpPr>
        <p:spPr>
          <a:xfrm>
            <a:off x="504645" y="3900948"/>
            <a:ext cx="11182710" cy="1200329"/>
          </a:xfrm>
          <a:prstGeom prst="rect">
            <a:avLst/>
          </a:prstGeom>
          <a:noFill/>
        </p:spPr>
        <p:txBody>
          <a:bodyPr wrap="square">
            <a:spAutoFit/>
          </a:bodyPr>
          <a:lstStyle/>
          <a:p>
            <a:pPr algn="just"/>
            <a:r>
              <a:rPr lang="en-US" b="0" i="0" dirty="0">
                <a:solidFill>
                  <a:srgbClr val="222222"/>
                </a:solidFill>
                <a:effectLst/>
              </a:rPr>
              <a:t>[2</a:t>
            </a:r>
            <a:r>
              <a:rPr lang="en-US" dirty="0">
                <a:solidFill>
                  <a:srgbClr val="222222"/>
                </a:solidFill>
              </a:rPr>
              <a:t>]</a:t>
            </a:r>
            <a:r>
              <a:rPr lang="en-US" b="0" i="0" dirty="0">
                <a:solidFill>
                  <a:srgbClr val="222222"/>
                </a:solidFill>
                <a:effectLst/>
              </a:rPr>
              <a:t> </a:t>
            </a:r>
            <a:r>
              <a:rPr lang="en-US" b="0" i="0" dirty="0" err="1">
                <a:solidFill>
                  <a:srgbClr val="222222"/>
                </a:solidFill>
                <a:effectLst/>
              </a:rPr>
              <a:t>Barbirotta</a:t>
            </a:r>
            <a:r>
              <a:rPr lang="en-US" b="0" i="0" dirty="0">
                <a:solidFill>
                  <a:srgbClr val="222222"/>
                </a:solidFill>
                <a:effectLst/>
              </a:rPr>
              <a:t>, M., Mastrandrea, A., Menichelli, F., </a:t>
            </a:r>
            <a:r>
              <a:rPr lang="en-US" b="0" i="0" dirty="0" err="1">
                <a:solidFill>
                  <a:srgbClr val="222222"/>
                </a:solidFill>
                <a:effectLst/>
              </a:rPr>
              <a:t>Vigli</a:t>
            </a:r>
            <a:r>
              <a:rPr lang="en-US" b="0" i="0" dirty="0">
                <a:solidFill>
                  <a:srgbClr val="222222"/>
                </a:solidFill>
                <a:effectLst/>
              </a:rPr>
              <a:t>, F., Blasi, L., Cheikh, A., ... &amp; Olivieri, M. (2020, October). </a:t>
            </a:r>
            <a:r>
              <a:rPr lang="en-US" b="1" i="0" dirty="0">
                <a:solidFill>
                  <a:srgbClr val="222222"/>
                </a:solidFill>
                <a:effectLst/>
              </a:rPr>
              <a:t>Fault resilience analysis of a RISC-V microprocessor design through a dedicated UVM environment.</a:t>
            </a:r>
            <a:r>
              <a:rPr lang="en-US" b="0" i="0" dirty="0">
                <a:solidFill>
                  <a:srgbClr val="222222"/>
                </a:solidFill>
                <a:effectLst/>
              </a:rPr>
              <a:t> In </a:t>
            </a:r>
            <a:r>
              <a:rPr lang="en-US" b="0" i="1" dirty="0">
                <a:solidFill>
                  <a:srgbClr val="222222"/>
                </a:solidFill>
                <a:effectLst/>
              </a:rPr>
              <a:t>2020 IEEE International Symposium on Defect and Fault Tolerance in VLSI and Nanotechnology Systems (DFT)</a:t>
            </a:r>
            <a:r>
              <a:rPr lang="en-US" b="0" i="0" dirty="0">
                <a:solidFill>
                  <a:srgbClr val="222222"/>
                </a:solidFill>
                <a:effectLst/>
              </a:rPr>
              <a:t> (pp. 1-6). IEEE.</a:t>
            </a:r>
            <a:endParaRPr lang="en-US" dirty="0"/>
          </a:p>
        </p:txBody>
      </p:sp>
      <p:sp>
        <p:nvSpPr>
          <p:cNvPr id="14" name="Slide Number Placeholder 13">
            <a:extLst>
              <a:ext uri="{FF2B5EF4-FFF2-40B4-BE49-F238E27FC236}">
                <a16:creationId xmlns:a16="http://schemas.microsoft.com/office/drawing/2014/main" id="{D123AA05-73FE-FB8E-AFC6-0446748D058A}"/>
              </a:ext>
            </a:extLst>
          </p:cNvPr>
          <p:cNvSpPr>
            <a:spLocks noGrp="1"/>
          </p:cNvSpPr>
          <p:nvPr>
            <p:ph type="sldNum" sz="quarter" idx="12"/>
          </p:nvPr>
        </p:nvSpPr>
        <p:spPr/>
        <p:txBody>
          <a:bodyPr/>
          <a:lstStyle/>
          <a:p>
            <a:fld id="{05F3D0EC-E5D6-4C0D-98AB-7F70DA2736DE}" type="slidenum">
              <a:rPr lang="en-US" smtClean="0"/>
              <a:t>2</a:t>
            </a:fld>
            <a:endParaRPr lang="en-US"/>
          </a:p>
        </p:txBody>
      </p:sp>
    </p:spTree>
    <p:extLst>
      <p:ext uri="{BB962C8B-B14F-4D97-AF65-F5344CB8AC3E}">
        <p14:creationId xmlns:p14="http://schemas.microsoft.com/office/powerpoint/2010/main" val="3269536755"/>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082511A8-EE1A-B5F1-7803-833B1ABBA813}"/>
              </a:ext>
            </a:extLst>
          </p:cNvPr>
          <p:cNvPicPr>
            <a:picLocks noGrp="1" noChangeAspect="1"/>
          </p:cNvPicPr>
          <p:nvPr>
            <p:ph idx="1"/>
          </p:nvPr>
        </p:nvPicPr>
        <p:blipFill>
          <a:blip r:embed="rId2"/>
          <a:stretch>
            <a:fillRect/>
          </a:stretch>
        </p:blipFill>
        <p:spPr>
          <a:xfrm>
            <a:off x="228137" y="1405701"/>
            <a:ext cx="5638310" cy="4903448"/>
          </a:xfrm>
        </p:spPr>
      </p:pic>
      <p:sp>
        <p:nvSpPr>
          <p:cNvPr id="3" name="TextBox 2">
            <a:extLst>
              <a:ext uri="{FF2B5EF4-FFF2-40B4-BE49-F238E27FC236}">
                <a16:creationId xmlns:a16="http://schemas.microsoft.com/office/drawing/2014/main" id="{EA1E36D4-4A57-9E54-1C30-0430500D7140}"/>
              </a:ext>
            </a:extLst>
          </p:cNvPr>
          <p:cNvSpPr txBox="1"/>
          <p:nvPr/>
        </p:nvSpPr>
        <p:spPr>
          <a:xfrm>
            <a:off x="5866447" y="1923036"/>
            <a:ext cx="6325553" cy="4093428"/>
          </a:xfrm>
          <a:prstGeom prst="rect">
            <a:avLst/>
          </a:prstGeom>
          <a:noFill/>
        </p:spPr>
        <p:txBody>
          <a:bodyPr wrap="square" rtlCol="0">
            <a:spAutoFit/>
          </a:bodyPr>
          <a:lstStyle/>
          <a:p>
            <a:r>
              <a:rPr lang="en-US" sz="2000" b="1" dirty="0">
                <a:cs typeface="Times New Roman" panose="02020603050405020304" pitchFamily="18" charset="0"/>
              </a:rPr>
              <a:t>Domain</a:t>
            </a:r>
            <a:r>
              <a:rPr lang="en-US" sz="2000" dirty="0">
                <a:cs typeface="Times New Roman" panose="02020603050405020304" pitchFamily="18" charset="0"/>
              </a:rPr>
              <a:t>: RISC-V microarchitecture design (5-stage pipeline: IF, ID, EX, MEM, WB).</a:t>
            </a:r>
          </a:p>
          <a:p>
            <a:r>
              <a:rPr lang="en-US" sz="2000" b="1" dirty="0">
                <a:cs typeface="Times New Roman" panose="02020603050405020304" pitchFamily="18" charset="0"/>
              </a:rPr>
              <a:t>Problem</a:t>
            </a:r>
            <a:r>
              <a:rPr lang="en-US" sz="2000" dirty="0">
                <a:cs typeface="Times New Roman" panose="02020603050405020304" pitchFamily="18" charset="0"/>
              </a:rPr>
              <a:t>: Pipeline hazards affect performance</a:t>
            </a:r>
          </a:p>
          <a:p>
            <a:pPr marL="285750" indent="-285750">
              <a:buFontTx/>
              <a:buChar char="-"/>
            </a:pPr>
            <a:r>
              <a:rPr lang="en-US" sz="2000" dirty="0">
                <a:cs typeface="Times New Roman" panose="02020603050405020304" pitchFamily="18" charset="0"/>
              </a:rPr>
              <a:t>Structural hazards (resource conflicts).</a:t>
            </a:r>
          </a:p>
          <a:p>
            <a:pPr marL="342900" indent="-342900">
              <a:buFontTx/>
              <a:buChar char="-"/>
            </a:pPr>
            <a:r>
              <a:rPr lang="en-US" sz="2000" dirty="0">
                <a:cs typeface="Times New Roman" panose="02020603050405020304" pitchFamily="18" charset="0"/>
              </a:rPr>
              <a:t>Data hazards (data dependency).</a:t>
            </a:r>
          </a:p>
          <a:p>
            <a:pPr marL="342900" indent="-342900">
              <a:buFontTx/>
              <a:buChar char="-"/>
            </a:pPr>
            <a:r>
              <a:rPr lang="en-US" sz="2000" dirty="0">
                <a:cs typeface="Times New Roman" panose="02020603050405020304" pitchFamily="18" charset="0"/>
              </a:rPr>
              <a:t>Control hazards (control branch, wrong prediction).</a:t>
            </a:r>
          </a:p>
          <a:p>
            <a:r>
              <a:rPr lang="en-US" sz="2000" b="1" dirty="0"/>
              <a:t>Scope of survey</a:t>
            </a:r>
            <a:r>
              <a:rPr lang="en-US" sz="2000" dirty="0"/>
              <a:t>: </a:t>
            </a:r>
            <a:r>
              <a:rPr lang="en-US" sz="2000" dirty="0">
                <a:cs typeface="Times New Roman" panose="02020603050405020304" pitchFamily="18" charset="0"/>
              </a:rPr>
              <a:t>Compare non-pipeline and multipipeline.</a:t>
            </a:r>
          </a:p>
          <a:p>
            <a:r>
              <a:rPr lang="en-US" sz="2000" b="1" dirty="0">
                <a:cs typeface="Times New Roman" panose="02020603050405020304" pitchFamily="18" charset="0"/>
              </a:rPr>
              <a:t>Importance</a:t>
            </a:r>
            <a:r>
              <a:rPr lang="en-US" sz="2000" dirty="0">
                <a:cs typeface="Times New Roman" panose="02020603050405020304" pitchFamily="18" charset="0"/>
              </a:rPr>
              <a:t>: RISC-V processor design is suitable for embedded, FPGA, and ASIC applications with low cost, high efficiency requirements.</a:t>
            </a:r>
          </a:p>
          <a:p>
            <a:r>
              <a:rPr lang="en-US" sz="2000" b="1" dirty="0">
                <a:cs typeface="Times New Roman" panose="02020603050405020304" pitchFamily="18" charset="0"/>
              </a:rPr>
              <a:t>Goal</a:t>
            </a:r>
            <a:r>
              <a:rPr lang="en-US" sz="2000" dirty="0">
                <a:cs typeface="Times New Roman" panose="02020603050405020304" pitchFamily="18" charset="0"/>
              </a:rPr>
              <a:t>: Improved processing speed, throughput, and IPC (Instruction Per Cycle).</a:t>
            </a:r>
          </a:p>
        </p:txBody>
      </p:sp>
      <p:sp>
        <p:nvSpPr>
          <p:cNvPr id="16" name="TextBox 15">
            <a:extLst>
              <a:ext uri="{FF2B5EF4-FFF2-40B4-BE49-F238E27FC236}">
                <a16:creationId xmlns:a16="http://schemas.microsoft.com/office/drawing/2014/main" id="{8796755B-63F2-3156-CAAC-14C0C8CDEFE6}"/>
              </a:ext>
            </a:extLst>
          </p:cNvPr>
          <p:cNvSpPr txBox="1"/>
          <p:nvPr/>
        </p:nvSpPr>
        <p:spPr>
          <a:xfrm>
            <a:off x="277297" y="585299"/>
            <a:ext cx="11629545" cy="430887"/>
          </a:xfrm>
          <a:prstGeom prst="rect">
            <a:avLst/>
          </a:prstGeom>
          <a:noFill/>
        </p:spPr>
        <p:txBody>
          <a:bodyPr wrap="square">
            <a:spAutoFit/>
          </a:bodyPr>
          <a:lstStyle/>
          <a:p>
            <a:pPr algn="ctr"/>
            <a:r>
              <a:rPr lang="en-US" sz="2200" b="1" dirty="0">
                <a:solidFill>
                  <a:srgbClr val="000000"/>
                </a:solidFill>
              </a:rPr>
              <a:t>[1] </a:t>
            </a:r>
            <a:r>
              <a:rPr lang="en-US" sz="2200" b="1" i="0" dirty="0">
                <a:solidFill>
                  <a:srgbClr val="000000"/>
                </a:solidFill>
                <a:effectLst/>
              </a:rPr>
              <a:t>A Survey on In-Order 5-Stage Pipeline RISC-V Processor Implementation</a:t>
            </a:r>
            <a:endParaRPr lang="en-US" sz="2200" dirty="0"/>
          </a:p>
        </p:txBody>
      </p:sp>
      <p:sp>
        <p:nvSpPr>
          <p:cNvPr id="18" name="TextBox 17">
            <a:extLst>
              <a:ext uri="{FF2B5EF4-FFF2-40B4-BE49-F238E27FC236}">
                <a16:creationId xmlns:a16="http://schemas.microsoft.com/office/drawing/2014/main" id="{E1E21F96-4528-7C93-B664-804C9BFBC1B2}"/>
              </a:ext>
            </a:extLst>
          </p:cNvPr>
          <p:cNvSpPr txBox="1"/>
          <p:nvPr/>
        </p:nvSpPr>
        <p:spPr>
          <a:xfrm>
            <a:off x="3775588" y="974814"/>
            <a:ext cx="7254191" cy="430887"/>
          </a:xfrm>
          <a:prstGeom prst="rect">
            <a:avLst/>
          </a:prstGeom>
          <a:noFill/>
        </p:spPr>
        <p:txBody>
          <a:bodyPr wrap="square">
            <a:spAutoFit/>
          </a:bodyPr>
          <a:lstStyle/>
          <a:p>
            <a:pPr algn="r"/>
            <a:r>
              <a:rPr lang="en-US" sz="2200" i="0" dirty="0">
                <a:solidFill>
                  <a:srgbClr val="000000"/>
                </a:solidFill>
                <a:effectLst/>
              </a:rPr>
              <a:t>Author:</a:t>
            </a:r>
            <a:r>
              <a:rPr lang="en-US" sz="2200" b="1" i="0" dirty="0">
                <a:solidFill>
                  <a:srgbClr val="000000"/>
                </a:solidFill>
                <a:effectLst/>
              </a:rPr>
              <a:t> Jayashree </a:t>
            </a:r>
            <a:r>
              <a:rPr lang="en-US" sz="2200" b="1" i="0" dirty="0" err="1">
                <a:solidFill>
                  <a:srgbClr val="000000"/>
                </a:solidFill>
                <a:effectLst/>
              </a:rPr>
              <a:t>Mallidu</a:t>
            </a:r>
            <a:r>
              <a:rPr lang="en-US" sz="2200" b="1" i="0" dirty="0">
                <a:solidFill>
                  <a:srgbClr val="000000"/>
                </a:solidFill>
                <a:effectLst/>
              </a:rPr>
              <a:t> and Saroja V. </a:t>
            </a:r>
            <a:r>
              <a:rPr lang="en-US" sz="2200" b="1" i="0" dirty="0" err="1">
                <a:solidFill>
                  <a:srgbClr val="000000"/>
                </a:solidFill>
                <a:effectLst/>
              </a:rPr>
              <a:t>Siddamal</a:t>
            </a:r>
            <a:r>
              <a:rPr lang="en-US" sz="2200" dirty="0"/>
              <a:t> </a:t>
            </a:r>
          </a:p>
        </p:txBody>
      </p:sp>
      <p:sp>
        <p:nvSpPr>
          <p:cNvPr id="2" name="Title 1"/>
          <p:cNvSpPr>
            <a:spLocks noGrp="1"/>
          </p:cNvSpPr>
          <p:nvPr>
            <p:ph type="title"/>
          </p:nvPr>
        </p:nvSpPr>
        <p:spPr>
          <a:xfrm>
            <a:off x="700105" y="1256386"/>
            <a:ext cx="3281959" cy="316775"/>
          </a:xfrm>
        </p:spPr>
        <p:txBody>
          <a:bodyPr>
            <a:noAutofit/>
          </a:bodyPr>
          <a:lstStyle/>
          <a:p>
            <a:pPr algn="l"/>
            <a:r>
              <a:rPr lang="en-US" sz="2200" b="1" dirty="0">
                <a:cs typeface="Times New Roman" panose="02020603050405020304" charset="0"/>
                <a:sym typeface="+mn-ea"/>
              </a:rPr>
              <a:t>1. </a:t>
            </a:r>
            <a:r>
              <a:rPr lang="en-US" sz="2200" b="1" dirty="0">
                <a:cs typeface="Times New Roman" panose="02020603050405020304" charset="0"/>
              </a:rPr>
              <a:t>Technical problem.</a:t>
            </a:r>
            <a:endParaRPr lang="en-US" sz="2200" b="1" dirty="0">
              <a:cs typeface="Times New Roman" panose="02020603050405020304" charset="0"/>
              <a:sym typeface="+mn-ea"/>
            </a:endParaRPr>
          </a:p>
        </p:txBody>
      </p:sp>
      <p:sp>
        <p:nvSpPr>
          <p:cNvPr id="4" name="Slide Number Placeholder 3">
            <a:extLst>
              <a:ext uri="{FF2B5EF4-FFF2-40B4-BE49-F238E27FC236}">
                <a16:creationId xmlns:a16="http://schemas.microsoft.com/office/drawing/2014/main" id="{2540DA5E-D57F-229E-0CE5-CCF08078B038}"/>
              </a:ext>
            </a:extLst>
          </p:cNvPr>
          <p:cNvSpPr>
            <a:spLocks noGrp="1"/>
          </p:cNvSpPr>
          <p:nvPr>
            <p:ph type="sldNum" sz="quarter" idx="12"/>
          </p:nvPr>
        </p:nvSpPr>
        <p:spPr/>
        <p:txBody>
          <a:bodyPr/>
          <a:lstStyle/>
          <a:p>
            <a:fld id="{05F3D0EC-E5D6-4C0D-98AB-7F70DA2736DE}" type="slidenum">
              <a:rPr lang="en-US" smtClean="0"/>
              <a:t>3</a:t>
            </a:fld>
            <a:endParaRPr lang="en-US"/>
          </a:p>
        </p:txBody>
      </p:sp>
    </p:spTree>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CBD7C7-9233-EE1C-8949-802155A1ABB3}"/>
              </a:ext>
            </a:extLst>
          </p:cNvPr>
          <p:cNvSpPr txBox="1"/>
          <p:nvPr/>
        </p:nvSpPr>
        <p:spPr>
          <a:xfrm>
            <a:off x="363895" y="817370"/>
            <a:ext cx="11828105" cy="430887"/>
          </a:xfrm>
          <a:prstGeom prst="rect">
            <a:avLst/>
          </a:prstGeom>
          <a:noFill/>
        </p:spPr>
        <p:txBody>
          <a:bodyPr wrap="square">
            <a:spAutoFit/>
          </a:bodyPr>
          <a:lstStyle/>
          <a:p>
            <a:r>
              <a:rPr lang="en-US" sz="2200" b="1" dirty="0">
                <a:latin typeface="+mj-lt"/>
                <a:cs typeface="Times New Roman" panose="02020603050405020304" charset="0"/>
                <a:sym typeface="+mn-ea"/>
              </a:rPr>
              <a:t>2. Technical Solution and Implementation Methodology</a:t>
            </a:r>
            <a:endParaRPr lang="en-US" sz="2200" dirty="0">
              <a:latin typeface="+mj-lt"/>
            </a:endParaRPr>
          </a:p>
        </p:txBody>
      </p:sp>
      <p:sp>
        <p:nvSpPr>
          <p:cNvPr id="4" name="TextBox 3">
            <a:extLst>
              <a:ext uri="{FF2B5EF4-FFF2-40B4-BE49-F238E27FC236}">
                <a16:creationId xmlns:a16="http://schemas.microsoft.com/office/drawing/2014/main" id="{309875B8-68E0-436E-9100-02FBA5BA8081}"/>
              </a:ext>
            </a:extLst>
          </p:cNvPr>
          <p:cNvSpPr txBox="1"/>
          <p:nvPr/>
        </p:nvSpPr>
        <p:spPr>
          <a:xfrm>
            <a:off x="613099" y="1602216"/>
            <a:ext cx="10965801" cy="3816429"/>
          </a:xfrm>
          <a:prstGeom prst="rect">
            <a:avLst/>
          </a:prstGeom>
          <a:noFill/>
        </p:spPr>
        <p:txBody>
          <a:bodyPr wrap="square">
            <a:spAutoFit/>
          </a:bodyPr>
          <a:lstStyle/>
          <a:p>
            <a:pPr algn="just"/>
            <a:r>
              <a:rPr lang="en-US" sz="2200" b="1" dirty="0">
                <a:cs typeface="Times New Roman" panose="02020603050405020304" pitchFamily="18" charset="0"/>
              </a:rPr>
              <a:t>Technical Solution: </a:t>
            </a:r>
          </a:p>
          <a:p>
            <a:pPr marL="285750" indent="-285750" algn="just">
              <a:buFontTx/>
              <a:buChar char="-"/>
            </a:pPr>
            <a:r>
              <a:rPr lang="en-US" sz="2200" dirty="0">
                <a:cs typeface="Times New Roman" panose="02020603050405020304" pitchFamily="18" charset="0"/>
              </a:rPr>
              <a:t>Non-pipelined design as the basis for comparison with pipeline.</a:t>
            </a:r>
          </a:p>
          <a:p>
            <a:pPr marL="285750" indent="-285750" algn="just">
              <a:buFontTx/>
              <a:buChar char="-"/>
            </a:pPr>
            <a:r>
              <a:rPr lang="en-US" sz="2200" dirty="0">
                <a:cs typeface="Times New Roman" panose="02020603050405020304" pitchFamily="18" charset="0"/>
              </a:rPr>
              <a:t>Using branch prediction (BTB, RAS, BHT) to reduce control hazard.</a:t>
            </a:r>
          </a:p>
          <a:p>
            <a:pPr marL="285750" indent="-285750" algn="just">
              <a:buFontTx/>
              <a:buChar char="-"/>
            </a:pPr>
            <a:r>
              <a:rPr lang="en-US" sz="2200" dirty="0">
                <a:cs typeface="Times New Roman" panose="02020603050405020304" pitchFamily="18" charset="0"/>
              </a:rPr>
              <a:t>Separate instruction memory and data memory to avoid structural hazard conflicts.</a:t>
            </a:r>
          </a:p>
          <a:p>
            <a:pPr algn="just"/>
            <a:endParaRPr lang="en-US" sz="2200" dirty="0">
              <a:cs typeface="Times New Roman" panose="02020603050405020304" pitchFamily="18" charset="0"/>
            </a:endParaRPr>
          </a:p>
          <a:p>
            <a:pPr algn="just"/>
            <a:r>
              <a:rPr lang="en-US" sz="2200" b="1" dirty="0">
                <a:cs typeface="Times New Roman" panose="02020603050405020304" pitchFamily="18" charset="0"/>
              </a:rPr>
              <a:t>Implementation Methodology:</a:t>
            </a:r>
          </a:p>
          <a:p>
            <a:pPr marL="285750" indent="-285750" algn="just">
              <a:buFontTx/>
              <a:buChar char="-"/>
            </a:pPr>
            <a:r>
              <a:rPr lang="en-US" sz="2200" dirty="0">
                <a:cs typeface="Times New Roman" panose="02020603050405020304" pitchFamily="18" charset="0"/>
              </a:rPr>
              <a:t>Tested on FPGA and ASIC (UMC 65nm, 130nm) for practical evaluation.</a:t>
            </a:r>
          </a:p>
          <a:p>
            <a:pPr marL="285750" indent="-285750" algn="just">
              <a:buFontTx/>
              <a:buChar char="-"/>
            </a:pPr>
            <a:r>
              <a:rPr lang="en-US" sz="2200" dirty="0">
                <a:cs typeface="Times New Roman" panose="02020603050405020304" pitchFamily="18" charset="0"/>
              </a:rPr>
              <a:t>Use 5-stage and 6-stage pipeline architectures (IF, ID, EX, MEM, WB, and extended stages such as RR, IS).</a:t>
            </a:r>
          </a:p>
          <a:p>
            <a:pPr marL="285750" indent="-285750" algn="just">
              <a:buFontTx/>
              <a:buChar char="-"/>
            </a:pPr>
            <a:r>
              <a:rPr lang="en-US" sz="2200" dirty="0">
                <a:cs typeface="Times New Roman" panose="02020603050405020304" pitchFamily="18" charset="0"/>
              </a:rPr>
              <a:t>Use data forwarding, resource duplication, and interlocks to handle data hazards and structural hazards.</a:t>
            </a:r>
          </a:p>
        </p:txBody>
      </p:sp>
      <p:sp>
        <p:nvSpPr>
          <p:cNvPr id="2" name="Slide Number Placeholder 1">
            <a:extLst>
              <a:ext uri="{FF2B5EF4-FFF2-40B4-BE49-F238E27FC236}">
                <a16:creationId xmlns:a16="http://schemas.microsoft.com/office/drawing/2014/main" id="{FBCAB1A9-EA7C-B3DF-D95E-64A94D792486}"/>
              </a:ext>
            </a:extLst>
          </p:cNvPr>
          <p:cNvSpPr>
            <a:spLocks noGrp="1"/>
          </p:cNvSpPr>
          <p:nvPr>
            <p:ph type="sldNum" sz="quarter" idx="12"/>
          </p:nvPr>
        </p:nvSpPr>
        <p:spPr/>
        <p:txBody>
          <a:bodyPr/>
          <a:lstStyle/>
          <a:p>
            <a:fld id="{05F3D0EC-E5D6-4C0D-98AB-7F70DA2736DE}" type="slidenum">
              <a:rPr lang="en-US" smtClean="0"/>
              <a:t>4</a:t>
            </a:fld>
            <a:endParaRPr lang="en-US"/>
          </a:p>
        </p:txBody>
      </p:sp>
    </p:spTree>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9EB991-526F-F169-FFA0-FBF7A2A21321}"/>
              </a:ext>
            </a:extLst>
          </p:cNvPr>
          <p:cNvSpPr txBox="1"/>
          <p:nvPr/>
        </p:nvSpPr>
        <p:spPr>
          <a:xfrm>
            <a:off x="472752" y="763232"/>
            <a:ext cx="9834076" cy="430887"/>
          </a:xfrm>
          <a:prstGeom prst="rect">
            <a:avLst/>
          </a:prstGeom>
          <a:noFill/>
        </p:spPr>
        <p:txBody>
          <a:bodyPr wrap="square">
            <a:spAutoFit/>
          </a:bodyPr>
          <a:lstStyle/>
          <a:p>
            <a:r>
              <a:rPr lang="en-US" sz="2200" b="1" dirty="0">
                <a:latin typeface="+mj-lt"/>
                <a:cs typeface="Times New Roman" panose="02020603050405020304" charset="0"/>
                <a:sym typeface="+mn-ea"/>
              </a:rPr>
              <a:t>3. Results and Evaluation</a:t>
            </a:r>
            <a:endParaRPr lang="en-US" sz="2200" dirty="0">
              <a:latin typeface="+mj-lt"/>
            </a:endParaRPr>
          </a:p>
        </p:txBody>
      </p:sp>
      <p:sp>
        <p:nvSpPr>
          <p:cNvPr id="6" name="TextBox 5">
            <a:extLst>
              <a:ext uri="{FF2B5EF4-FFF2-40B4-BE49-F238E27FC236}">
                <a16:creationId xmlns:a16="http://schemas.microsoft.com/office/drawing/2014/main" id="{17CB378D-16F7-A2EA-7297-269D08FF5084}"/>
              </a:ext>
            </a:extLst>
          </p:cNvPr>
          <p:cNvSpPr txBox="1"/>
          <p:nvPr/>
        </p:nvSpPr>
        <p:spPr>
          <a:xfrm>
            <a:off x="613487" y="1449757"/>
            <a:ext cx="11105761" cy="4493538"/>
          </a:xfrm>
          <a:prstGeom prst="rect">
            <a:avLst/>
          </a:prstGeom>
          <a:noFill/>
        </p:spPr>
        <p:txBody>
          <a:bodyPr wrap="square">
            <a:spAutoFit/>
          </a:bodyPr>
          <a:lstStyle/>
          <a:p>
            <a:r>
              <a:rPr lang="en-US" sz="2200" b="1" dirty="0">
                <a:cs typeface="Times New Roman" panose="02020603050405020304" pitchFamily="18" charset="0"/>
              </a:rPr>
              <a:t>Results:</a:t>
            </a:r>
          </a:p>
          <a:p>
            <a:pPr marL="285750" indent="-285750">
              <a:buFontTx/>
              <a:buChar char="-"/>
            </a:pPr>
            <a:r>
              <a:rPr lang="en-US" sz="2200" dirty="0">
                <a:cs typeface="Times New Roman" panose="02020603050405020304" pitchFamily="18" charset="0"/>
              </a:rPr>
              <a:t>Both 5-stage and 6-stage pipelines help increase IPC, improving throughput compared to non-pipelines.</a:t>
            </a:r>
          </a:p>
          <a:p>
            <a:pPr marL="285750" indent="-285750">
              <a:buFontTx/>
              <a:buChar char="-"/>
            </a:pPr>
            <a:r>
              <a:rPr lang="en-US" sz="2200" dirty="0">
                <a:cs typeface="Times New Roman" panose="02020603050405020304" pitchFamily="18" charset="0"/>
              </a:rPr>
              <a:t>Data forwarding + duplication reduces stalls, eliminates structural hazards.</a:t>
            </a:r>
          </a:p>
          <a:p>
            <a:pPr marL="285750" indent="-285750">
              <a:buFontTx/>
              <a:buChar char="-"/>
            </a:pPr>
            <a:r>
              <a:rPr lang="en-US" sz="2200" dirty="0">
                <a:cs typeface="Times New Roman" panose="02020603050405020304" pitchFamily="18" charset="0"/>
              </a:rPr>
              <a:t>Branch prediction helps reduce control hazards, increase processing efficiency.</a:t>
            </a:r>
          </a:p>
          <a:p>
            <a:endParaRPr lang="en-US" sz="2200" dirty="0">
              <a:cs typeface="Times New Roman" panose="02020603050405020304" pitchFamily="18" charset="0"/>
            </a:endParaRPr>
          </a:p>
          <a:p>
            <a:r>
              <a:rPr lang="en-US" sz="2200" b="1" dirty="0">
                <a:cs typeface="Times New Roman" panose="02020603050405020304" pitchFamily="18" charset="0"/>
              </a:rPr>
              <a:t>Evaluation:</a:t>
            </a:r>
          </a:p>
          <a:p>
            <a:pPr marL="285750" indent="-285750">
              <a:buFontTx/>
              <a:buChar char="-"/>
            </a:pPr>
            <a:r>
              <a:rPr lang="en-US" sz="2200" dirty="0">
                <a:cs typeface="Times New Roman" panose="02020603050405020304" pitchFamily="18" charset="0"/>
              </a:rPr>
              <a:t>Advantages: Easy to customize, open-source, low cost, easy to apply to SoC/embedded.</a:t>
            </a:r>
          </a:p>
          <a:p>
            <a:pPr marL="285750" indent="-285750">
              <a:buFontTx/>
              <a:buChar char="-"/>
            </a:pPr>
            <a:r>
              <a:rPr lang="en-US" sz="2200" dirty="0">
                <a:cs typeface="Times New Roman" panose="02020603050405020304" pitchFamily="18" charset="0"/>
              </a:rPr>
              <a:t>Disadvantages: It is necessary to integrate multiple techniques simultaneously (forwarding, branch prediction, superscalar) to achieve optimal performance.</a:t>
            </a:r>
          </a:p>
          <a:p>
            <a:pPr marL="285750" indent="-285750">
              <a:buFontTx/>
              <a:buChar char="-"/>
            </a:pPr>
            <a:r>
              <a:rPr lang="en-US" sz="2200" dirty="0">
                <a:cs typeface="Times New Roman" panose="02020603050405020304" pitchFamily="18" charset="0"/>
              </a:rPr>
              <a:t>Prospects: The RISC-V pipeline is a potential research and application direction, both serving academics and meeting industrial requirements.</a:t>
            </a:r>
          </a:p>
        </p:txBody>
      </p:sp>
      <p:sp>
        <p:nvSpPr>
          <p:cNvPr id="3" name="Slide Number Placeholder 2">
            <a:extLst>
              <a:ext uri="{FF2B5EF4-FFF2-40B4-BE49-F238E27FC236}">
                <a16:creationId xmlns:a16="http://schemas.microsoft.com/office/drawing/2014/main" id="{69158ED0-FC68-46A6-09AD-BBCD1FA46C39}"/>
              </a:ext>
            </a:extLst>
          </p:cNvPr>
          <p:cNvSpPr>
            <a:spLocks noGrp="1"/>
          </p:cNvSpPr>
          <p:nvPr>
            <p:ph type="sldNum" sz="quarter" idx="12"/>
          </p:nvPr>
        </p:nvSpPr>
        <p:spPr/>
        <p:txBody>
          <a:bodyPr/>
          <a:lstStyle/>
          <a:p>
            <a:fld id="{05F3D0EC-E5D6-4C0D-98AB-7F70DA2736DE}" type="slidenum">
              <a:rPr lang="en-US" smtClean="0"/>
              <a:t>5</a:t>
            </a:fld>
            <a:endParaRPr lang="en-US"/>
          </a:p>
        </p:txBody>
      </p:sp>
    </p:spTree>
    <p:extLst>
      <p:ext uri="{BB962C8B-B14F-4D97-AF65-F5344CB8AC3E}">
        <p14:creationId xmlns:p14="http://schemas.microsoft.com/office/powerpoint/2010/main" val="4231998503"/>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909395"/>
            <a:ext cx="3028335" cy="410853"/>
          </a:xfrm>
        </p:spPr>
        <p:txBody>
          <a:bodyPr/>
          <a:lstStyle/>
          <a:p>
            <a:pPr algn="l"/>
            <a:r>
              <a:rPr lang="en-US" sz="2200" b="1" dirty="0">
                <a:latin typeface="Times New Roman" panose="02020603050405020304" charset="0"/>
                <a:cs typeface="Times New Roman" panose="02020603050405020304" charset="0"/>
                <a:sym typeface="+mn-ea"/>
              </a:rPr>
              <a:t>1. Technical Problem</a:t>
            </a:r>
          </a:p>
        </p:txBody>
      </p:sp>
      <p:sp>
        <p:nvSpPr>
          <p:cNvPr id="6" name="Text Box 5"/>
          <p:cNvSpPr txBox="1"/>
          <p:nvPr/>
        </p:nvSpPr>
        <p:spPr>
          <a:xfrm>
            <a:off x="609600" y="2493352"/>
            <a:ext cx="11041626" cy="1107996"/>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Background:</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Increasing demand for higher processing speed and improved performance in microprocessors.</a:t>
            </a:r>
          </a:p>
          <a:p>
            <a:r>
              <a:rPr lang="en-US" sz="2200" dirty="0">
                <a:latin typeface="Times New Roman" panose="02020603050405020304" pitchFamily="18" charset="0"/>
                <a:cs typeface="Times New Roman" panose="02020603050405020304" pitchFamily="18" charset="0"/>
              </a:rPr>
              <a:t>- Need to reduce power consumption and minimize chip area while maintaining efficiency.</a:t>
            </a:r>
          </a:p>
        </p:txBody>
      </p:sp>
      <p:sp>
        <p:nvSpPr>
          <p:cNvPr id="11" name="Text Box 5">
            <a:extLst>
              <a:ext uri="{FF2B5EF4-FFF2-40B4-BE49-F238E27FC236}">
                <a16:creationId xmlns:a16="http://schemas.microsoft.com/office/drawing/2014/main" id="{B33C2D1C-CA65-C3C8-C26B-D44BAFF3B667}"/>
              </a:ext>
            </a:extLst>
          </p:cNvPr>
          <p:cNvSpPr txBox="1"/>
          <p:nvPr/>
        </p:nvSpPr>
        <p:spPr>
          <a:xfrm>
            <a:off x="609600" y="3774452"/>
            <a:ext cx="11041626" cy="1107996"/>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Problem:</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Single-cycle RISC executes each instruction in one long clock cycle → low throughput.</a:t>
            </a:r>
          </a:p>
          <a:p>
            <a:r>
              <a:rPr lang="en-US" sz="2200" dirty="0">
                <a:latin typeface="Times New Roman" panose="02020603050405020304" pitchFamily="18" charset="0"/>
                <a:cs typeface="Times New Roman" panose="02020603050405020304" pitchFamily="18" charset="0"/>
              </a:rPr>
              <a:t>- Complex design makes expansion and verification difficult.</a:t>
            </a:r>
          </a:p>
        </p:txBody>
      </p:sp>
      <p:sp>
        <p:nvSpPr>
          <p:cNvPr id="13" name="Text Box 5">
            <a:extLst>
              <a:ext uri="{FF2B5EF4-FFF2-40B4-BE49-F238E27FC236}">
                <a16:creationId xmlns:a16="http://schemas.microsoft.com/office/drawing/2014/main" id="{4091AB97-7ADD-0D30-7788-6E9572C49714}"/>
              </a:ext>
            </a:extLst>
          </p:cNvPr>
          <p:cNvSpPr txBox="1"/>
          <p:nvPr/>
        </p:nvSpPr>
        <p:spPr>
          <a:xfrm>
            <a:off x="609600" y="5009838"/>
            <a:ext cx="11041626" cy="1107996"/>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Objective:</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Develop a 5‑stage pipelined 32‑bit RISC processor (IF, ID, EX, MEM, WB).</a:t>
            </a:r>
          </a:p>
          <a:p>
            <a:r>
              <a:rPr lang="en-US" sz="2200" dirty="0">
                <a:latin typeface="Times New Roman" panose="02020603050405020304" pitchFamily="18" charset="0"/>
                <a:cs typeface="Times New Roman" panose="02020603050405020304" pitchFamily="18" charset="0"/>
              </a:rPr>
              <a:t>- Reduce cycles per instruction, increase throughput, ensure scalability.</a:t>
            </a:r>
          </a:p>
        </p:txBody>
      </p:sp>
      <p:sp>
        <p:nvSpPr>
          <p:cNvPr id="4" name="TextBox 3">
            <a:extLst>
              <a:ext uri="{FF2B5EF4-FFF2-40B4-BE49-F238E27FC236}">
                <a16:creationId xmlns:a16="http://schemas.microsoft.com/office/drawing/2014/main" id="{840C88C5-E954-AEB6-9398-B1A1D937E716}"/>
              </a:ext>
            </a:extLst>
          </p:cNvPr>
          <p:cNvSpPr txBox="1"/>
          <p:nvPr/>
        </p:nvSpPr>
        <p:spPr>
          <a:xfrm>
            <a:off x="609599" y="773562"/>
            <a:ext cx="11041627" cy="1200329"/>
          </a:xfrm>
          <a:prstGeom prst="rect">
            <a:avLst/>
          </a:prstGeom>
          <a:noFill/>
        </p:spPr>
        <p:txBody>
          <a:bodyPr wrap="square">
            <a:spAutoFit/>
          </a:bodyPr>
          <a:lstStyle/>
          <a:p>
            <a:r>
              <a:rPr lang="en-US" sz="2200" b="1" dirty="0"/>
              <a:t>[5] </a:t>
            </a:r>
            <a:r>
              <a:rPr lang="en-US" sz="2400" b="1" dirty="0"/>
              <a:t>Design and Implementation of 5 Stages Pipelined Architecture in 32 Bit RISC Processor </a:t>
            </a:r>
            <a:endParaRPr lang="en-US" sz="2200" b="1" dirty="0"/>
          </a:p>
          <a:p>
            <a:pPr algn="r"/>
            <a:r>
              <a:rPr lang="en-US" sz="2200" dirty="0"/>
              <a:t>Author: </a:t>
            </a:r>
            <a:r>
              <a:rPr lang="en-US" sz="2400" b="1" dirty="0"/>
              <a:t>Sharda P. Katke, G.P. Jain</a:t>
            </a:r>
            <a:endParaRPr lang="en-US" sz="2200" b="1" dirty="0"/>
          </a:p>
        </p:txBody>
      </p:sp>
      <p:sp>
        <p:nvSpPr>
          <p:cNvPr id="5" name="Slide Number Placeholder 4">
            <a:extLst>
              <a:ext uri="{FF2B5EF4-FFF2-40B4-BE49-F238E27FC236}">
                <a16:creationId xmlns:a16="http://schemas.microsoft.com/office/drawing/2014/main" id="{24F486E8-D265-3F5B-4667-DA710D23CFC4}"/>
              </a:ext>
            </a:extLst>
          </p:cNvPr>
          <p:cNvSpPr>
            <a:spLocks noGrp="1"/>
          </p:cNvSpPr>
          <p:nvPr>
            <p:ph type="sldNum" sz="quarter" idx="12"/>
          </p:nvPr>
        </p:nvSpPr>
        <p:spPr/>
        <p:txBody>
          <a:bodyPr/>
          <a:lstStyle/>
          <a:p>
            <a:fld id="{05F3D0EC-E5D6-4C0D-98AB-7F70DA2736DE}" type="slidenum">
              <a:rPr lang="en-US" smtClean="0"/>
              <a:t>6</a:t>
            </a:fld>
            <a:endParaRPr lang="en-US"/>
          </a:p>
        </p:txBody>
      </p:sp>
    </p:spTree>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1"/>
                                        </p:tgtEl>
                                        <p:attrNameLst>
                                          <p:attrName>style.visibility</p:attrName>
                                        </p:attrNameLst>
                                      </p:cBhvr>
                                      <p:to>
                                        <p:strVal val="hidden"/>
                                      </p:to>
                                    </p:set>
                                  </p:childTnLst>
                                </p:cTn>
                              </p:par>
                            </p:childTnLst>
                          </p:cTn>
                        </p:par>
                        <p:par>
                          <p:cTn id="17" fill="hold">
                            <p:stCondLst>
                              <p:cond delay="0"/>
                            </p:stCondLst>
                            <p:childTnLst>
                              <p:par>
                                <p:cTn id="18" presetID="2" presetClass="entr" presetSubtype="8"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0-#ppt_w/2"/>
                                          </p:val>
                                        </p:tav>
                                        <p:tav tm="100000">
                                          <p:val>
                                            <p:strVal val="#ppt_x"/>
                                          </p:val>
                                        </p:tav>
                                      </p:tavLst>
                                    </p:anim>
                                    <p:anim calcmode="lin" valueType="num">
                                      <p:cBhvr additive="base">
                                        <p:cTn id="21"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1" grpId="0"/>
      <p:bldP spid="11" grpId="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42A3A5-3180-DE6B-E8A0-8DF57E8D9ABF}"/>
              </a:ext>
            </a:extLst>
          </p:cNvPr>
          <p:cNvPicPr>
            <a:picLocks noChangeAspect="1"/>
          </p:cNvPicPr>
          <p:nvPr/>
        </p:nvPicPr>
        <p:blipFill>
          <a:blip r:embed="rId2"/>
          <a:stretch>
            <a:fillRect/>
          </a:stretch>
        </p:blipFill>
        <p:spPr>
          <a:xfrm>
            <a:off x="6096000" y="746631"/>
            <a:ext cx="5883179" cy="3922120"/>
          </a:xfrm>
          <a:prstGeom prst="rect">
            <a:avLst/>
          </a:prstGeom>
        </p:spPr>
      </p:pic>
      <p:sp>
        <p:nvSpPr>
          <p:cNvPr id="4" name="Title 1"/>
          <p:cNvSpPr>
            <a:spLocks noGrp="1"/>
          </p:cNvSpPr>
          <p:nvPr/>
        </p:nvSpPr>
        <p:spPr>
          <a:xfrm>
            <a:off x="542544" y="461769"/>
            <a:ext cx="7600335" cy="521458"/>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sz="2200" b="1" dirty="0">
                <a:latin typeface="Times New Roman" panose="02020603050405020304" charset="0"/>
                <a:cs typeface="Times New Roman" panose="02020603050405020304" charset="0"/>
                <a:sym typeface="+mn-ea"/>
              </a:rPr>
              <a:t>2. Technical Solution and Implementation Methodology</a:t>
            </a:r>
          </a:p>
        </p:txBody>
      </p:sp>
      <p:sp>
        <p:nvSpPr>
          <p:cNvPr id="2" name="Text Box 5">
            <a:extLst>
              <a:ext uri="{FF2B5EF4-FFF2-40B4-BE49-F238E27FC236}">
                <a16:creationId xmlns:a16="http://schemas.microsoft.com/office/drawing/2014/main" id="{9E6475E3-D74A-A7B3-E61B-CDAEFDB9F05F}"/>
              </a:ext>
            </a:extLst>
          </p:cNvPr>
          <p:cNvSpPr txBox="1"/>
          <p:nvPr/>
        </p:nvSpPr>
        <p:spPr>
          <a:xfrm>
            <a:off x="542544" y="983227"/>
            <a:ext cx="6030862" cy="3816429"/>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Technical Solution:</a:t>
            </a:r>
          </a:p>
          <a:p>
            <a:r>
              <a:rPr lang="en-US" sz="2200" dirty="0">
                <a:latin typeface="Times New Roman" panose="02020603050405020304" pitchFamily="18" charset="0"/>
                <a:cs typeface="Times New Roman" panose="02020603050405020304" pitchFamily="18" charset="0"/>
              </a:rPr>
              <a:t>- Implement a 5-stage pipelined architecture:</a:t>
            </a:r>
          </a:p>
          <a:p>
            <a:r>
              <a:rPr lang="en-US" sz="2200" dirty="0">
                <a:latin typeface="Times New Roman" panose="02020603050405020304" pitchFamily="18" charset="0"/>
                <a:cs typeface="Times New Roman" panose="02020603050405020304" pitchFamily="18" charset="0"/>
              </a:rPr>
              <a:t>  1. Instruction Fetch (IF) </a:t>
            </a:r>
          </a:p>
          <a:p>
            <a:r>
              <a:rPr lang="en-US" sz="2200" dirty="0">
                <a:latin typeface="Times New Roman" panose="02020603050405020304" pitchFamily="18" charset="0"/>
                <a:cs typeface="Times New Roman" panose="02020603050405020304" pitchFamily="18" charset="0"/>
              </a:rPr>
              <a:t>  2. Instruction Decode (ID) </a:t>
            </a:r>
          </a:p>
          <a:p>
            <a:r>
              <a:rPr lang="en-US" sz="2200" dirty="0">
                <a:latin typeface="Times New Roman" panose="02020603050405020304" pitchFamily="18" charset="0"/>
                <a:cs typeface="Times New Roman" panose="02020603050405020304" pitchFamily="18" charset="0"/>
              </a:rPr>
              <a:t>  3. Execute (EX) </a:t>
            </a:r>
          </a:p>
          <a:p>
            <a:r>
              <a:rPr lang="en-US" sz="2200" dirty="0">
                <a:latin typeface="Times New Roman" panose="02020603050405020304" pitchFamily="18" charset="0"/>
                <a:cs typeface="Times New Roman" panose="02020603050405020304" pitchFamily="18" charset="0"/>
              </a:rPr>
              <a:t>  4. Memory Access (MEM)</a:t>
            </a:r>
          </a:p>
          <a:p>
            <a:r>
              <a:rPr lang="en-US" sz="2200" dirty="0">
                <a:latin typeface="Times New Roman" panose="02020603050405020304" pitchFamily="18" charset="0"/>
                <a:cs typeface="Times New Roman" panose="02020603050405020304" pitchFamily="18" charset="0"/>
              </a:rPr>
              <a:t>  5. Write Back (WB) </a:t>
            </a:r>
          </a:p>
          <a:p>
            <a:r>
              <a:rPr lang="en-US" sz="2200" dirty="0">
                <a:latin typeface="Times New Roman" panose="02020603050405020304" pitchFamily="18" charset="0"/>
                <a:cs typeface="Times New Roman" panose="02020603050405020304" pitchFamily="18" charset="0"/>
              </a:rPr>
              <a:t>- Integrate </a:t>
            </a:r>
            <a:r>
              <a:rPr lang="en-US" sz="2200" b="1" dirty="0">
                <a:latin typeface="Times New Roman" panose="02020603050405020304" pitchFamily="18" charset="0"/>
                <a:cs typeface="Times New Roman" panose="02020603050405020304" pitchFamily="18" charset="0"/>
              </a:rPr>
              <a:t>hazard detection</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forwarding units</a:t>
            </a:r>
            <a:r>
              <a:rPr lang="en-US" sz="2200" dirty="0">
                <a:latin typeface="Times New Roman" panose="02020603050405020304" pitchFamily="18" charset="0"/>
                <a:cs typeface="Times New Roman" panose="02020603050405020304" pitchFamily="18" charset="0"/>
              </a:rPr>
              <a:t> to resolve data hazards.</a:t>
            </a:r>
          </a:p>
          <a:p>
            <a:r>
              <a:rPr lang="en-US" sz="2200" dirty="0">
                <a:latin typeface="Times New Roman" panose="02020603050405020304" pitchFamily="18" charset="0"/>
                <a:cs typeface="Times New Roman" panose="02020603050405020304" pitchFamily="18" charset="0"/>
              </a:rPr>
              <a:t>- Use VHDL for hardware description and FPGA for prototyping.</a:t>
            </a:r>
          </a:p>
        </p:txBody>
      </p:sp>
      <p:sp>
        <p:nvSpPr>
          <p:cNvPr id="11" name="Text Box 5">
            <a:extLst>
              <a:ext uri="{FF2B5EF4-FFF2-40B4-BE49-F238E27FC236}">
                <a16:creationId xmlns:a16="http://schemas.microsoft.com/office/drawing/2014/main" id="{727F3E80-1A82-6A9F-4104-FE21815257F6}"/>
              </a:ext>
            </a:extLst>
          </p:cNvPr>
          <p:cNvSpPr txBox="1"/>
          <p:nvPr/>
        </p:nvSpPr>
        <p:spPr>
          <a:xfrm>
            <a:off x="2744969" y="4668750"/>
            <a:ext cx="7844373" cy="1785104"/>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Implementation Methodology:</a:t>
            </a:r>
          </a:p>
          <a:p>
            <a:r>
              <a:rPr lang="en-US" sz="2200" dirty="0">
                <a:latin typeface="Times New Roman" panose="02020603050405020304" pitchFamily="18" charset="0"/>
                <a:cs typeface="Times New Roman" panose="02020603050405020304" pitchFamily="18" charset="0"/>
              </a:rPr>
              <a:t>- Model each functional block in VHDL.</a:t>
            </a:r>
          </a:p>
          <a:p>
            <a:r>
              <a:rPr lang="en-US" sz="2200" dirty="0">
                <a:latin typeface="Times New Roman" panose="02020603050405020304" pitchFamily="18" charset="0"/>
                <a:cs typeface="Times New Roman" panose="02020603050405020304" pitchFamily="18" charset="0"/>
              </a:rPr>
              <a:t>- Simulate using </a:t>
            </a:r>
            <a:r>
              <a:rPr lang="en-US" sz="2200" dirty="0" err="1">
                <a:latin typeface="Times New Roman" panose="02020603050405020304" pitchFamily="18" charset="0"/>
                <a:cs typeface="Times New Roman" panose="02020603050405020304" pitchFamily="18" charset="0"/>
              </a:rPr>
              <a:t>ModelSim</a:t>
            </a:r>
            <a:r>
              <a:rPr lang="en-US" sz="2200" dirty="0">
                <a:latin typeface="Times New Roman" panose="02020603050405020304" pitchFamily="18" charset="0"/>
                <a:cs typeface="Times New Roman" panose="02020603050405020304" pitchFamily="18" charset="0"/>
              </a:rPr>
              <a:t> to verify logic correctness.</a:t>
            </a:r>
          </a:p>
          <a:p>
            <a:r>
              <a:rPr lang="en-US" sz="2200" dirty="0">
                <a:latin typeface="Times New Roman" panose="02020603050405020304" pitchFamily="18" charset="0"/>
                <a:cs typeface="Times New Roman" panose="02020603050405020304" pitchFamily="18" charset="0"/>
              </a:rPr>
              <a:t>- Synthesize using Xilinx Webpack for FPGA deployment.</a:t>
            </a:r>
          </a:p>
          <a:p>
            <a:r>
              <a:rPr lang="en-US" sz="2200" dirty="0">
                <a:latin typeface="Times New Roman" panose="02020603050405020304" pitchFamily="18" charset="0"/>
                <a:cs typeface="Times New Roman" panose="02020603050405020304" pitchFamily="18" charset="0"/>
              </a:rPr>
              <a:t>- Test with a representative instruction set to evaluate performance.</a:t>
            </a:r>
          </a:p>
        </p:txBody>
      </p:sp>
      <p:sp>
        <p:nvSpPr>
          <p:cNvPr id="3" name="Slide Number Placeholder 2">
            <a:extLst>
              <a:ext uri="{FF2B5EF4-FFF2-40B4-BE49-F238E27FC236}">
                <a16:creationId xmlns:a16="http://schemas.microsoft.com/office/drawing/2014/main" id="{E532F48A-1FC6-2EDA-6855-C24099FD6BEC}"/>
              </a:ext>
            </a:extLst>
          </p:cNvPr>
          <p:cNvSpPr>
            <a:spLocks noGrp="1"/>
          </p:cNvSpPr>
          <p:nvPr>
            <p:ph type="sldNum" sz="quarter" idx="12"/>
          </p:nvPr>
        </p:nvSpPr>
        <p:spPr/>
        <p:txBody>
          <a:bodyPr/>
          <a:lstStyle/>
          <a:p>
            <a:fld id="{05F3D0EC-E5D6-4C0D-98AB-7F70DA2736DE}" type="slidenum">
              <a:rPr lang="en-US" smtClean="0"/>
              <a:t>7</a:t>
            </a:fld>
            <a:endParaRPr lang="en-US"/>
          </a:p>
        </p:txBody>
      </p:sp>
      <p:sp>
        <p:nvSpPr>
          <p:cNvPr id="8" name="TextBox 7">
            <a:extLst>
              <a:ext uri="{FF2B5EF4-FFF2-40B4-BE49-F238E27FC236}">
                <a16:creationId xmlns:a16="http://schemas.microsoft.com/office/drawing/2014/main" id="{3737B90C-0E07-00EF-2194-7BB6A08A9BC9}"/>
              </a:ext>
            </a:extLst>
          </p:cNvPr>
          <p:cNvSpPr txBox="1"/>
          <p:nvPr/>
        </p:nvSpPr>
        <p:spPr>
          <a:xfrm>
            <a:off x="6971071" y="4584281"/>
            <a:ext cx="6096000" cy="369332"/>
          </a:xfrm>
          <a:prstGeom prst="rect">
            <a:avLst/>
          </a:prstGeom>
          <a:noFill/>
        </p:spPr>
        <p:txBody>
          <a:bodyPr wrap="square">
            <a:spAutoFit/>
          </a:bodyPr>
          <a:lstStyle/>
          <a:p>
            <a:r>
              <a:rPr lang="en-US" dirty="0"/>
              <a:t>SYSTEM ARCHITECTURE WITH PIPELINE</a:t>
            </a:r>
          </a:p>
        </p:txBody>
      </p:sp>
    </p:spTree>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B0745-3B63-8DF8-471B-1CAC6633F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8C9CD4-0DC0-C58F-2FA0-F46534860C1E}"/>
              </a:ext>
            </a:extLst>
          </p:cNvPr>
          <p:cNvSpPr>
            <a:spLocks noGrp="1"/>
          </p:cNvSpPr>
          <p:nvPr>
            <p:ph type="title"/>
          </p:nvPr>
        </p:nvSpPr>
        <p:spPr>
          <a:xfrm>
            <a:off x="609600" y="1191961"/>
            <a:ext cx="6528619" cy="256304"/>
          </a:xfrm>
        </p:spPr>
        <p:txBody>
          <a:bodyPr/>
          <a:lstStyle/>
          <a:p>
            <a:pPr algn="l"/>
            <a:r>
              <a:rPr lang="en-US" sz="2400" b="1" dirty="0">
                <a:latin typeface="Times New Roman" panose="02020603050405020304" charset="0"/>
                <a:cs typeface="Times New Roman" panose="02020603050405020304" charset="0"/>
                <a:sym typeface="+mn-ea"/>
              </a:rPr>
              <a:t>3. Results and Evaluation</a:t>
            </a:r>
          </a:p>
        </p:txBody>
      </p:sp>
      <p:sp>
        <p:nvSpPr>
          <p:cNvPr id="6" name="Text Box 5">
            <a:extLst>
              <a:ext uri="{FF2B5EF4-FFF2-40B4-BE49-F238E27FC236}">
                <a16:creationId xmlns:a16="http://schemas.microsoft.com/office/drawing/2014/main" id="{C0B8B3D7-6BCC-85C9-1812-4188EC6BFBCA}"/>
              </a:ext>
            </a:extLst>
          </p:cNvPr>
          <p:cNvSpPr txBox="1"/>
          <p:nvPr/>
        </p:nvSpPr>
        <p:spPr>
          <a:xfrm>
            <a:off x="609600" y="1612655"/>
            <a:ext cx="10107168" cy="1569660"/>
          </a:xfrm>
          <a:prstGeom prst="rect">
            <a:avLst/>
          </a:prstGeom>
          <a:noFill/>
        </p:spPr>
        <p:txBody>
          <a:bodyPr wrap="square" rtlCol="0">
            <a:spAutoFit/>
          </a:bodyPr>
          <a:lstStyle/>
          <a:p>
            <a:r>
              <a:rPr lang="en-US" sz="2400" b="1" dirty="0">
                <a:latin typeface="Times New Roman" panose="02020603050405020304" charset="0"/>
                <a:cs typeface="Times New Roman" panose="02020603050405020304" charset="0"/>
              </a:rPr>
              <a:t>Results:</a:t>
            </a:r>
          </a:p>
          <a:p>
            <a:pPr marL="342900" indent="-342900">
              <a:buFontTx/>
              <a:buChar char="-"/>
            </a:pPr>
            <a:r>
              <a:rPr lang="en-US" sz="2400" dirty="0">
                <a:latin typeface="Times New Roman" panose="02020603050405020304" charset="0"/>
                <a:cs typeface="Times New Roman" panose="02020603050405020304" charset="0"/>
              </a:rPr>
              <a:t>Simulation confirms correct functional behavior of the pipelined processor.</a:t>
            </a:r>
          </a:p>
          <a:p>
            <a:pPr marL="342900" indent="-342900">
              <a:buFontTx/>
              <a:buChar char="-"/>
            </a:pPr>
            <a:r>
              <a:rPr lang="en-US" sz="2400" dirty="0">
                <a:latin typeface="Times New Roman" panose="02020603050405020304" charset="0"/>
                <a:cs typeface="Times New Roman" panose="02020603050405020304" charset="0"/>
              </a:rPr>
              <a:t>Achieved higher throughput compared to single-cycle implementation.</a:t>
            </a:r>
          </a:p>
          <a:p>
            <a:pPr marL="342900" indent="-342900">
              <a:buFontTx/>
              <a:buChar char="-"/>
            </a:pPr>
            <a:r>
              <a:rPr lang="en-US" sz="2400" dirty="0">
                <a:latin typeface="Times New Roman" panose="02020603050405020304" charset="0"/>
                <a:cs typeface="Times New Roman" panose="02020603050405020304" charset="0"/>
              </a:rPr>
              <a:t>Reduced average execution time per instruction.</a:t>
            </a:r>
          </a:p>
        </p:txBody>
      </p:sp>
      <p:sp>
        <p:nvSpPr>
          <p:cNvPr id="11" name="Text Box 5">
            <a:extLst>
              <a:ext uri="{FF2B5EF4-FFF2-40B4-BE49-F238E27FC236}">
                <a16:creationId xmlns:a16="http://schemas.microsoft.com/office/drawing/2014/main" id="{7E32FF15-961A-61C6-BF91-1D9854EDD5B2}"/>
              </a:ext>
            </a:extLst>
          </p:cNvPr>
          <p:cNvSpPr txBox="1"/>
          <p:nvPr/>
        </p:nvSpPr>
        <p:spPr>
          <a:xfrm>
            <a:off x="609600" y="3357880"/>
            <a:ext cx="10107168" cy="2308324"/>
          </a:xfrm>
          <a:prstGeom prst="rect">
            <a:avLst/>
          </a:prstGeom>
          <a:noFill/>
        </p:spPr>
        <p:txBody>
          <a:bodyPr wrap="square" rtlCol="0">
            <a:spAutoFit/>
          </a:bodyPr>
          <a:lstStyle/>
          <a:p>
            <a:r>
              <a:rPr lang="en-US" sz="2400" b="1" dirty="0">
                <a:latin typeface="Times New Roman" panose="02020603050405020304" charset="0"/>
                <a:cs typeface="Times New Roman" panose="02020603050405020304" charset="0"/>
              </a:rPr>
              <a:t>Evaluation:</a:t>
            </a:r>
          </a:p>
          <a:p>
            <a:pPr marL="342900" indent="-342900">
              <a:buFontTx/>
              <a:buChar char="-"/>
            </a:pPr>
            <a:r>
              <a:rPr lang="en-US" sz="2400" dirty="0">
                <a:latin typeface="Times New Roman" panose="02020603050405020304" charset="0"/>
                <a:cs typeface="Times New Roman" panose="02020603050405020304" charset="0"/>
              </a:rPr>
              <a:t>Advantages: Higher processing speed, modular and scalable design, suitable for embedded applications.</a:t>
            </a:r>
          </a:p>
          <a:p>
            <a:pPr marL="342900" indent="-342900">
              <a:buFontTx/>
              <a:buChar char="-"/>
            </a:pPr>
            <a:r>
              <a:rPr lang="en-US" sz="2400" dirty="0">
                <a:latin typeface="Times New Roman" panose="02020603050405020304" charset="0"/>
                <a:cs typeface="Times New Roman" panose="02020603050405020304" charset="0"/>
              </a:rPr>
              <a:t>Limitations: No overflow handling; limited instruction set.</a:t>
            </a:r>
          </a:p>
          <a:p>
            <a:pPr marL="342900" indent="-342900">
              <a:buFontTx/>
              <a:buChar char="-"/>
            </a:pPr>
            <a:r>
              <a:rPr lang="en-US" sz="2400" dirty="0">
                <a:latin typeface="Times New Roman" panose="02020603050405020304" charset="0"/>
                <a:cs typeface="Times New Roman" panose="02020603050405020304" charset="0"/>
              </a:rPr>
              <a:t>Future Work: Expand instruction set and add more pipeline stages to further enhance performance.</a:t>
            </a:r>
          </a:p>
        </p:txBody>
      </p:sp>
      <p:sp>
        <p:nvSpPr>
          <p:cNvPr id="3" name="Slide Number Placeholder 2">
            <a:extLst>
              <a:ext uri="{FF2B5EF4-FFF2-40B4-BE49-F238E27FC236}">
                <a16:creationId xmlns:a16="http://schemas.microsoft.com/office/drawing/2014/main" id="{9D931F93-2331-4491-7F57-8B4D86BC9E0C}"/>
              </a:ext>
            </a:extLst>
          </p:cNvPr>
          <p:cNvSpPr>
            <a:spLocks noGrp="1"/>
          </p:cNvSpPr>
          <p:nvPr>
            <p:ph type="sldNum" sz="quarter" idx="12"/>
          </p:nvPr>
        </p:nvSpPr>
        <p:spPr/>
        <p:txBody>
          <a:bodyPr/>
          <a:lstStyle/>
          <a:p>
            <a:fld id="{05F3D0EC-E5D6-4C0D-98AB-7F70DA2736DE}" type="slidenum">
              <a:rPr lang="en-US" smtClean="0"/>
              <a:t>8</a:t>
            </a:fld>
            <a:endParaRPr lang="en-US"/>
          </a:p>
        </p:txBody>
      </p:sp>
    </p:spTree>
    <p:extLst>
      <p:ext uri="{BB962C8B-B14F-4D97-AF65-F5344CB8AC3E}">
        <p14:creationId xmlns:p14="http://schemas.microsoft.com/office/powerpoint/2010/main" val="3923556719"/>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55DFC5-4456-35CA-6DF0-6D9534B0CAC0}"/>
              </a:ext>
            </a:extLst>
          </p:cNvPr>
          <p:cNvPicPr>
            <a:picLocks noChangeAspect="1"/>
          </p:cNvPicPr>
          <p:nvPr/>
        </p:nvPicPr>
        <p:blipFill>
          <a:blip r:embed="rId2"/>
          <a:stretch>
            <a:fillRect/>
          </a:stretch>
        </p:blipFill>
        <p:spPr>
          <a:xfrm>
            <a:off x="144470" y="837269"/>
            <a:ext cx="11903060" cy="5236286"/>
          </a:xfrm>
          <a:prstGeom prst="rect">
            <a:avLst/>
          </a:prstGeom>
        </p:spPr>
      </p:pic>
      <p:sp>
        <p:nvSpPr>
          <p:cNvPr id="11" name="Text Box 7">
            <a:extLst>
              <a:ext uri="{FF2B5EF4-FFF2-40B4-BE49-F238E27FC236}">
                <a16:creationId xmlns:a16="http://schemas.microsoft.com/office/drawing/2014/main" id="{63B2B07D-0788-9B58-7A09-9178092E00EF}"/>
              </a:ext>
            </a:extLst>
          </p:cNvPr>
          <p:cNvSpPr txBox="1"/>
          <p:nvPr/>
        </p:nvSpPr>
        <p:spPr>
          <a:xfrm>
            <a:off x="427112" y="4816250"/>
            <a:ext cx="2965018" cy="430887"/>
          </a:xfrm>
          <a:prstGeom prst="rect">
            <a:avLst/>
          </a:prstGeom>
          <a:noFill/>
        </p:spPr>
        <p:txBody>
          <a:bodyPr wrap="square" rtlCol="0">
            <a:spAutoFit/>
          </a:bodyPr>
          <a:lstStyle/>
          <a:p>
            <a:r>
              <a:rPr lang="en-US" sz="2200" b="1" dirty="0">
                <a:latin typeface="Times New Roman" panose="02020603050405020304" charset="0"/>
                <a:cs typeface="Times New Roman" panose="02020603050405020304" charset="0"/>
              </a:rPr>
              <a:t>Technical  problems:</a:t>
            </a:r>
          </a:p>
        </p:txBody>
      </p:sp>
      <p:sp>
        <p:nvSpPr>
          <p:cNvPr id="13" name="TextBox 12">
            <a:extLst>
              <a:ext uri="{FF2B5EF4-FFF2-40B4-BE49-F238E27FC236}">
                <a16:creationId xmlns:a16="http://schemas.microsoft.com/office/drawing/2014/main" id="{695CA507-AF1A-9594-5DE8-4CB0DDC0B771}"/>
              </a:ext>
            </a:extLst>
          </p:cNvPr>
          <p:cNvSpPr txBox="1"/>
          <p:nvPr/>
        </p:nvSpPr>
        <p:spPr>
          <a:xfrm>
            <a:off x="407187" y="5247138"/>
            <a:ext cx="6094428" cy="1200329"/>
          </a:xfrm>
          <a:prstGeom prst="rect">
            <a:avLst/>
          </a:prstGeom>
          <a:noFill/>
        </p:spPr>
        <p:txBody>
          <a:bodyPr wrap="square">
            <a:spAutoFit/>
          </a:bodyPr>
          <a:lstStyle/>
          <a:p>
            <a:pPr>
              <a:buNone/>
            </a:pPr>
            <a:r>
              <a:rPr lang="vi-VN" b="1" dirty="0"/>
              <a:t>3 </a:t>
            </a:r>
            <a:r>
              <a:rPr lang="vi-VN" b="1" dirty="0" err="1"/>
              <a:t>critical</a:t>
            </a:r>
            <a:r>
              <a:rPr lang="vi-VN" b="1" dirty="0"/>
              <a:t> </a:t>
            </a:r>
            <a:r>
              <a:rPr lang="vi-VN" b="1" dirty="0" err="1"/>
              <a:t>path</a:t>
            </a:r>
            <a:r>
              <a:rPr lang="en-AU" b="1" dirty="0"/>
              <a:t>:</a:t>
            </a:r>
            <a:endParaRPr lang="vi-VN" b="1" dirty="0"/>
          </a:p>
          <a:p>
            <a:pPr>
              <a:buFont typeface="+mj-lt"/>
              <a:buAutoNum type="arabicPeriod"/>
            </a:pPr>
            <a:r>
              <a:rPr lang="vi-VN" b="1" dirty="0"/>
              <a:t>IF </a:t>
            </a:r>
            <a:r>
              <a:rPr lang="vi-VN" b="1" dirty="0" err="1"/>
              <a:t>stage</a:t>
            </a:r>
            <a:r>
              <a:rPr lang="vi-VN" b="1" dirty="0"/>
              <a:t>:</a:t>
            </a:r>
            <a:r>
              <a:rPr lang="vi-VN" dirty="0"/>
              <a:t> PC → BTB/PHT → </a:t>
            </a:r>
            <a:r>
              <a:rPr lang="en-GB" dirty="0"/>
              <a:t>choosing next </a:t>
            </a:r>
            <a:r>
              <a:rPr lang="vi-VN" dirty="0"/>
              <a:t>PC.</a:t>
            </a:r>
          </a:p>
          <a:p>
            <a:pPr>
              <a:buFont typeface="+mj-lt"/>
              <a:buAutoNum type="arabicPeriod"/>
            </a:pPr>
            <a:r>
              <a:rPr lang="vi-VN" b="1" dirty="0"/>
              <a:t>EX </a:t>
            </a:r>
            <a:r>
              <a:rPr lang="vi-VN" b="1" dirty="0" err="1"/>
              <a:t>stage</a:t>
            </a:r>
            <a:r>
              <a:rPr lang="vi-VN" b="1" dirty="0"/>
              <a:t>:</a:t>
            </a:r>
            <a:r>
              <a:rPr lang="vi-VN" dirty="0"/>
              <a:t> ALU + 2 </a:t>
            </a:r>
            <a:r>
              <a:rPr lang="vi-VN" dirty="0" err="1"/>
              <a:t>forwarding</a:t>
            </a:r>
            <a:r>
              <a:rPr lang="en-GB" dirty="0"/>
              <a:t> path</a:t>
            </a:r>
            <a:r>
              <a:rPr lang="vi-VN" dirty="0"/>
              <a:t>.</a:t>
            </a:r>
          </a:p>
          <a:p>
            <a:pPr>
              <a:buFont typeface="+mj-lt"/>
              <a:buAutoNum type="arabicPeriod"/>
            </a:pPr>
            <a:r>
              <a:rPr lang="vi-VN" b="1" dirty="0"/>
              <a:t>MA </a:t>
            </a:r>
            <a:r>
              <a:rPr lang="vi-VN" b="1" dirty="0" err="1"/>
              <a:t>stage</a:t>
            </a:r>
            <a:r>
              <a:rPr lang="vi-VN" b="1" dirty="0"/>
              <a:t>:</a:t>
            </a:r>
            <a:r>
              <a:rPr lang="vi-VN" dirty="0"/>
              <a:t> </a:t>
            </a:r>
            <a:r>
              <a:rPr lang="vi-VN" dirty="0" err="1"/>
              <a:t>Load</a:t>
            </a:r>
            <a:r>
              <a:rPr lang="vi-VN" dirty="0"/>
              <a:t> </a:t>
            </a:r>
            <a:r>
              <a:rPr lang="vi-VN" dirty="0" err="1"/>
              <a:t>data</a:t>
            </a:r>
            <a:r>
              <a:rPr lang="vi-VN" dirty="0"/>
              <a:t> → </a:t>
            </a:r>
            <a:r>
              <a:rPr lang="vi-VN" dirty="0" err="1"/>
              <a:t>align</a:t>
            </a:r>
            <a:r>
              <a:rPr lang="vi-VN" dirty="0"/>
              <a:t>/</a:t>
            </a:r>
            <a:r>
              <a:rPr lang="vi-VN" dirty="0" err="1"/>
              <a:t>extend</a:t>
            </a:r>
            <a:r>
              <a:rPr lang="vi-VN" dirty="0"/>
              <a:t> → </a:t>
            </a:r>
            <a:r>
              <a:rPr lang="vi-VN" dirty="0" err="1"/>
              <a:t>MaWb</a:t>
            </a:r>
            <a:r>
              <a:rPr lang="vi-VN" dirty="0"/>
              <a:t>.</a:t>
            </a:r>
          </a:p>
        </p:txBody>
      </p:sp>
      <p:sp>
        <p:nvSpPr>
          <p:cNvPr id="15" name="TextBox 14">
            <a:extLst>
              <a:ext uri="{FF2B5EF4-FFF2-40B4-BE49-F238E27FC236}">
                <a16:creationId xmlns:a16="http://schemas.microsoft.com/office/drawing/2014/main" id="{2596ABA1-CF2A-790B-45BC-09B5288BB323}"/>
              </a:ext>
            </a:extLst>
          </p:cNvPr>
          <p:cNvSpPr txBox="1"/>
          <p:nvPr/>
        </p:nvSpPr>
        <p:spPr>
          <a:xfrm>
            <a:off x="5762135" y="5524138"/>
            <a:ext cx="6094428" cy="923330"/>
          </a:xfrm>
          <a:prstGeom prst="rect">
            <a:avLst/>
          </a:prstGeom>
          <a:noFill/>
        </p:spPr>
        <p:txBody>
          <a:bodyPr wrap="square">
            <a:spAutoFit/>
          </a:bodyPr>
          <a:lstStyle/>
          <a:p>
            <a:pPr>
              <a:buNone/>
            </a:pPr>
            <a:r>
              <a:rPr lang="vi-VN" dirty="0"/>
              <a:t>→ </a:t>
            </a:r>
            <a:r>
              <a:rPr lang="en-GB" dirty="0"/>
              <a:t>This is the point that causes significant delay, which in turn reduces the operating frequency of a soft RV32I pipeline processor.</a:t>
            </a:r>
            <a:endParaRPr lang="vi-VN" dirty="0"/>
          </a:p>
        </p:txBody>
      </p:sp>
      <p:sp>
        <p:nvSpPr>
          <p:cNvPr id="4" name="TextBox 3">
            <a:extLst>
              <a:ext uri="{FF2B5EF4-FFF2-40B4-BE49-F238E27FC236}">
                <a16:creationId xmlns:a16="http://schemas.microsoft.com/office/drawing/2014/main" id="{1457CDA0-2079-3587-346A-F81A35D341A3}"/>
              </a:ext>
            </a:extLst>
          </p:cNvPr>
          <p:cNvSpPr txBox="1"/>
          <p:nvPr/>
        </p:nvSpPr>
        <p:spPr>
          <a:xfrm>
            <a:off x="530941" y="410532"/>
            <a:ext cx="11051459" cy="800219"/>
          </a:xfrm>
          <a:prstGeom prst="rect">
            <a:avLst/>
          </a:prstGeom>
          <a:noFill/>
        </p:spPr>
        <p:txBody>
          <a:bodyPr wrap="square">
            <a:spAutoFit/>
          </a:bodyPr>
          <a:lstStyle/>
          <a:p>
            <a:r>
              <a:rPr lang="en-US" sz="2400" b="1" dirty="0"/>
              <a:t>[3] </a:t>
            </a:r>
            <a:r>
              <a:rPr lang="en-US" sz="2400" b="1" dirty="0" err="1"/>
              <a:t>RVCoreP</a:t>
            </a:r>
            <a:r>
              <a:rPr lang="en-US" sz="2400" b="1" dirty="0"/>
              <a:t>: An optimized RISC-V soft processor of five-stage pipelining </a:t>
            </a:r>
          </a:p>
          <a:p>
            <a:pPr algn="r"/>
            <a:r>
              <a:rPr lang="en-US" sz="2200" dirty="0"/>
              <a:t>Author: </a:t>
            </a:r>
            <a:r>
              <a:rPr lang="en-US" sz="2200" b="1" dirty="0"/>
              <a:t>Wang J, Tan N, Zhou Y, Li T, Xia J </a:t>
            </a:r>
          </a:p>
        </p:txBody>
      </p:sp>
      <p:sp>
        <p:nvSpPr>
          <p:cNvPr id="5" name="Slide Number Placeholder 4">
            <a:extLst>
              <a:ext uri="{FF2B5EF4-FFF2-40B4-BE49-F238E27FC236}">
                <a16:creationId xmlns:a16="http://schemas.microsoft.com/office/drawing/2014/main" id="{5F9E75BA-32CF-CD31-04C4-23A0C6EB9D49}"/>
              </a:ext>
            </a:extLst>
          </p:cNvPr>
          <p:cNvSpPr>
            <a:spLocks noGrp="1"/>
          </p:cNvSpPr>
          <p:nvPr>
            <p:ph type="sldNum" sz="quarter" idx="12"/>
          </p:nvPr>
        </p:nvSpPr>
        <p:spPr/>
        <p:txBody>
          <a:bodyPr/>
          <a:lstStyle/>
          <a:p>
            <a:fld id="{05F3D0EC-E5D6-4C0D-98AB-7F70DA2736DE}" type="slidenum">
              <a:rPr lang="en-US" smtClean="0"/>
              <a:t>9</a:t>
            </a:fld>
            <a:endParaRPr lang="en-US"/>
          </a:p>
        </p:txBody>
      </p:sp>
    </p:spTree>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4585EE-7E13-E184-A3C4-CF940ADA9FAF}"/>
              </a:ext>
            </a:extLst>
          </p:cNvPr>
          <p:cNvPicPr>
            <a:picLocks noChangeAspect="1"/>
          </p:cNvPicPr>
          <p:nvPr/>
        </p:nvPicPr>
        <p:blipFill>
          <a:blip r:embed="rId2"/>
          <a:stretch>
            <a:fillRect/>
          </a:stretch>
        </p:blipFill>
        <p:spPr>
          <a:xfrm>
            <a:off x="241381" y="1125318"/>
            <a:ext cx="5854619" cy="5020958"/>
          </a:xfrm>
          <a:prstGeom prst="rect">
            <a:avLst/>
          </a:prstGeom>
        </p:spPr>
      </p:pic>
      <p:pic>
        <p:nvPicPr>
          <p:cNvPr id="10" name="Picture 9">
            <a:extLst>
              <a:ext uri="{FF2B5EF4-FFF2-40B4-BE49-F238E27FC236}">
                <a16:creationId xmlns:a16="http://schemas.microsoft.com/office/drawing/2014/main" id="{5303CE66-9713-EAF2-CE9F-A4BB3E9ED8FE}"/>
              </a:ext>
            </a:extLst>
          </p:cNvPr>
          <p:cNvPicPr>
            <a:picLocks noChangeAspect="1"/>
          </p:cNvPicPr>
          <p:nvPr/>
        </p:nvPicPr>
        <p:blipFill>
          <a:blip r:embed="rId3"/>
          <a:stretch>
            <a:fillRect/>
          </a:stretch>
        </p:blipFill>
        <p:spPr>
          <a:xfrm>
            <a:off x="5946360" y="1125318"/>
            <a:ext cx="6004258" cy="3663497"/>
          </a:xfrm>
          <a:prstGeom prst="rect">
            <a:avLst/>
          </a:prstGeom>
        </p:spPr>
      </p:pic>
      <p:sp>
        <p:nvSpPr>
          <p:cNvPr id="12" name="TextBox 11">
            <a:extLst>
              <a:ext uri="{FF2B5EF4-FFF2-40B4-BE49-F238E27FC236}">
                <a16:creationId xmlns:a16="http://schemas.microsoft.com/office/drawing/2014/main" id="{FE78A0F3-FFC7-5E2C-66E1-701D04F8BC4B}"/>
              </a:ext>
            </a:extLst>
          </p:cNvPr>
          <p:cNvSpPr txBox="1"/>
          <p:nvPr/>
        </p:nvSpPr>
        <p:spPr>
          <a:xfrm>
            <a:off x="5769396" y="4788815"/>
            <a:ext cx="6094428" cy="1477328"/>
          </a:xfrm>
          <a:prstGeom prst="rect">
            <a:avLst/>
          </a:prstGeom>
          <a:noFill/>
        </p:spPr>
        <p:txBody>
          <a:bodyPr wrap="square">
            <a:spAutoFit/>
          </a:bodyPr>
          <a:lstStyle/>
          <a:p>
            <a:r>
              <a:rPr lang="vi-VN" b="1"/>
              <a:t>ALU Optimization</a:t>
            </a:r>
            <a:r>
              <a:rPr lang="en-AU" b="1"/>
              <a:t>:</a:t>
            </a:r>
            <a:r>
              <a:rPr lang="en-GB"/>
              <a:t>the circuit speed is improved by using exclusive OR instead of multiplexer to select the operation result for the ALU optimization on FPGA. Therefore, in this design of RVCoreP, exclusive OR is used to select the 32-bit executed result of ALU.</a:t>
            </a:r>
            <a:endParaRPr lang="vi-VN" b="1"/>
          </a:p>
        </p:txBody>
      </p:sp>
      <p:sp>
        <p:nvSpPr>
          <p:cNvPr id="14" name="TextBox 13">
            <a:extLst>
              <a:ext uri="{FF2B5EF4-FFF2-40B4-BE49-F238E27FC236}">
                <a16:creationId xmlns:a16="http://schemas.microsoft.com/office/drawing/2014/main" id="{66F322A3-9419-39EC-2D84-52C9E5E5D238}"/>
              </a:ext>
            </a:extLst>
          </p:cNvPr>
          <p:cNvSpPr txBox="1"/>
          <p:nvPr/>
        </p:nvSpPr>
        <p:spPr>
          <a:xfrm>
            <a:off x="473697" y="591857"/>
            <a:ext cx="6094428" cy="369332"/>
          </a:xfrm>
          <a:prstGeom prst="rect">
            <a:avLst/>
          </a:prstGeom>
          <a:noFill/>
        </p:spPr>
        <p:txBody>
          <a:bodyPr wrap="square">
            <a:spAutoFit/>
          </a:bodyPr>
          <a:lstStyle/>
          <a:p>
            <a:r>
              <a:rPr lang="vi-VN" b="1"/>
              <a:t>ALU Optimization</a:t>
            </a:r>
            <a:r>
              <a:rPr lang="en-AU" b="1"/>
              <a:t>:</a:t>
            </a:r>
            <a:endParaRPr lang="vi-VN" b="1"/>
          </a:p>
        </p:txBody>
      </p:sp>
      <p:sp>
        <p:nvSpPr>
          <p:cNvPr id="2" name="Slide Number Placeholder 1">
            <a:extLst>
              <a:ext uri="{FF2B5EF4-FFF2-40B4-BE49-F238E27FC236}">
                <a16:creationId xmlns:a16="http://schemas.microsoft.com/office/drawing/2014/main" id="{8DF305E3-65C9-5E81-CF84-AEB2800AC660}"/>
              </a:ext>
            </a:extLst>
          </p:cNvPr>
          <p:cNvSpPr>
            <a:spLocks noGrp="1"/>
          </p:cNvSpPr>
          <p:nvPr>
            <p:ph type="sldNum" sz="quarter" idx="12"/>
          </p:nvPr>
        </p:nvSpPr>
        <p:spPr/>
        <p:txBody>
          <a:bodyPr/>
          <a:lstStyle/>
          <a:p>
            <a:fld id="{05F3D0EC-E5D6-4C0D-98AB-7F70DA2736DE}" type="slidenum">
              <a:rPr lang="en-US" smtClean="0"/>
              <a:t>10</a:t>
            </a:fld>
            <a:endParaRPr lang="en-US"/>
          </a:p>
        </p:txBody>
      </p:sp>
    </p:spTree>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7D805-0D49-36DE-A9E0-E670CD8F6FA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F04950C-2689-8428-5665-5510D5933E55}"/>
              </a:ext>
            </a:extLst>
          </p:cNvPr>
          <p:cNvPicPr>
            <a:picLocks noChangeAspect="1"/>
          </p:cNvPicPr>
          <p:nvPr/>
        </p:nvPicPr>
        <p:blipFill>
          <a:blip r:embed="rId2"/>
          <a:stretch>
            <a:fillRect/>
          </a:stretch>
        </p:blipFill>
        <p:spPr>
          <a:xfrm>
            <a:off x="2148086" y="816262"/>
            <a:ext cx="7573432" cy="5613629"/>
          </a:xfrm>
          <a:prstGeom prst="rect">
            <a:avLst/>
          </a:prstGeom>
        </p:spPr>
      </p:pic>
      <p:sp>
        <p:nvSpPr>
          <p:cNvPr id="8" name="TextBox 7">
            <a:extLst>
              <a:ext uri="{FF2B5EF4-FFF2-40B4-BE49-F238E27FC236}">
                <a16:creationId xmlns:a16="http://schemas.microsoft.com/office/drawing/2014/main" id="{63DB1B4B-5A88-B009-C785-2A2614A9EE24}"/>
              </a:ext>
            </a:extLst>
          </p:cNvPr>
          <p:cNvSpPr txBox="1"/>
          <p:nvPr/>
        </p:nvSpPr>
        <p:spPr>
          <a:xfrm>
            <a:off x="166539" y="631596"/>
            <a:ext cx="6094428" cy="369332"/>
          </a:xfrm>
          <a:prstGeom prst="rect">
            <a:avLst/>
          </a:prstGeom>
          <a:noFill/>
        </p:spPr>
        <p:txBody>
          <a:bodyPr wrap="square">
            <a:spAutoFit/>
          </a:bodyPr>
          <a:lstStyle/>
          <a:p>
            <a:r>
              <a:rPr lang="vi-VN" b="1"/>
              <a:t>Instruction Fetch Unit Optimization</a:t>
            </a:r>
          </a:p>
        </p:txBody>
      </p:sp>
      <p:sp>
        <p:nvSpPr>
          <p:cNvPr id="2" name="Slide Number Placeholder 1">
            <a:extLst>
              <a:ext uri="{FF2B5EF4-FFF2-40B4-BE49-F238E27FC236}">
                <a16:creationId xmlns:a16="http://schemas.microsoft.com/office/drawing/2014/main" id="{99641495-53ED-2188-7C8A-13CE26EA0FDB}"/>
              </a:ext>
            </a:extLst>
          </p:cNvPr>
          <p:cNvSpPr>
            <a:spLocks noGrp="1"/>
          </p:cNvSpPr>
          <p:nvPr>
            <p:ph type="sldNum" sz="quarter" idx="12"/>
          </p:nvPr>
        </p:nvSpPr>
        <p:spPr/>
        <p:txBody>
          <a:bodyPr/>
          <a:lstStyle/>
          <a:p>
            <a:fld id="{05F3D0EC-E5D6-4C0D-98AB-7F70DA2736DE}" type="slidenum">
              <a:rPr lang="en-US" smtClean="0"/>
              <a:t>11</a:t>
            </a:fld>
            <a:endParaRPr lang="en-US"/>
          </a:p>
        </p:txBody>
      </p:sp>
    </p:spTree>
    <p:extLst>
      <p:ext uri="{BB962C8B-B14F-4D97-AF65-F5344CB8AC3E}">
        <p14:creationId xmlns:p14="http://schemas.microsoft.com/office/powerpoint/2010/main" val="4072542051"/>
      </p:ext>
    </p:extLst>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6CDF7-51F6-698E-15F6-E4B1C044A5C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F3A8B14-B412-B8EF-30A6-55503C8C1880}"/>
              </a:ext>
            </a:extLst>
          </p:cNvPr>
          <p:cNvSpPr txBox="1"/>
          <p:nvPr/>
        </p:nvSpPr>
        <p:spPr>
          <a:xfrm>
            <a:off x="184451" y="615267"/>
            <a:ext cx="8747277" cy="461665"/>
          </a:xfrm>
          <a:prstGeom prst="rect">
            <a:avLst/>
          </a:prstGeom>
          <a:noFill/>
        </p:spPr>
        <p:txBody>
          <a:bodyPr wrap="square">
            <a:spAutoFit/>
          </a:bodyPr>
          <a:lstStyle/>
          <a:p>
            <a:r>
              <a:rPr lang="vi-VN" sz="2400" b="1"/>
              <a:t>Alignment and Sign-Extension Optimization</a:t>
            </a:r>
          </a:p>
        </p:txBody>
      </p:sp>
      <p:sp>
        <p:nvSpPr>
          <p:cNvPr id="3" name="TextBox 2">
            <a:extLst>
              <a:ext uri="{FF2B5EF4-FFF2-40B4-BE49-F238E27FC236}">
                <a16:creationId xmlns:a16="http://schemas.microsoft.com/office/drawing/2014/main" id="{2875EBA7-1B51-BF82-B5A9-F8DEFDA388E7}"/>
              </a:ext>
            </a:extLst>
          </p:cNvPr>
          <p:cNvSpPr txBox="1"/>
          <p:nvPr/>
        </p:nvSpPr>
        <p:spPr>
          <a:xfrm>
            <a:off x="365760" y="1108054"/>
            <a:ext cx="11826240" cy="2677656"/>
          </a:xfrm>
          <a:prstGeom prst="rect">
            <a:avLst/>
          </a:prstGeom>
          <a:noFill/>
        </p:spPr>
        <p:txBody>
          <a:bodyPr wrap="square">
            <a:spAutoFit/>
          </a:bodyPr>
          <a:lstStyle/>
          <a:p>
            <a:r>
              <a:rPr lang="en-GB" sz="2400" dirty="0"/>
              <a:t>In the MA stage, the </a:t>
            </a:r>
            <a:r>
              <a:rPr lang="en-GB" sz="2400" b="1" dirty="0"/>
              <a:t>align/extend</a:t>
            </a:r>
            <a:r>
              <a:rPr lang="en-GB" sz="2400" dirty="0"/>
              <a:t> unit must align the loaded data (8, 16, or 32 bits) and perform either sign-extension or zero-extension, which originally relies on large multiplexers and causes delay. </a:t>
            </a:r>
          </a:p>
          <a:p>
            <a:endParaRPr lang="en-GB" sz="2400" dirty="0"/>
          </a:p>
          <a:p>
            <a:r>
              <a:rPr lang="en-GB" sz="2400" dirty="0" err="1"/>
              <a:t>RVCoreP</a:t>
            </a:r>
            <a:r>
              <a:rPr lang="en-GB" sz="2400" dirty="0"/>
              <a:t> optimizes this unit by applying </a:t>
            </a:r>
            <a:r>
              <a:rPr lang="en-GB" sz="2400" b="1" dirty="0"/>
              <a:t>one-hot encoding</a:t>
            </a:r>
            <a:r>
              <a:rPr lang="en-GB" sz="2400" dirty="0"/>
              <a:t> combined with </a:t>
            </a:r>
            <a:r>
              <a:rPr lang="en-GB" sz="2400" b="1" dirty="0"/>
              <a:t>XOR-reduction</a:t>
            </a:r>
            <a:r>
              <a:rPr lang="en-GB" sz="2400" dirty="0"/>
              <a:t>, similar to the ALU optimization, thereby reducing the critical path delay and improving the processor’s operating frequency.</a:t>
            </a:r>
            <a:endParaRPr lang="vi-VN" sz="2400" dirty="0"/>
          </a:p>
        </p:txBody>
      </p:sp>
      <p:sp>
        <p:nvSpPr>
          <p:cNvPr id="2" name="Slide Number Placeholder 1">
            <a:extLst>
              <a:ext uri="{FF2B5EF4-FFF2-40B4-BE49-F238E27FC236}">
                <a16:creationId xmlns:a16="http://schemas.microsoft.com/office/drawing/2014/main" id="{9CB643A2-0784-8DAE-20FC-7F4FDB17A331}"/>
              </a:ext>
            </a:extLst>
          </p:cNvPr>
          <p:cNvSpPr>
            <a:spLocks noGrp="1"/>
          </p:cNvSpPr>
          <p:nvPr>
            <p:ph type="sldNum" sz="quarter" idx="12"/>
          </p:nvPr>
        </p:nvSpPr>
        <p:spPr/>
        <p:txBody>
          <a:bodyPr/>
          <a:lstStyle/>
          <a:p>
            <a:fld id="{05F3D0EC-E5D6-4C0D-98AB-7F70DA2736DE}" type="slidenum">
              <a:rPr lang="en-US" smtClean="0"/>
              <a:t>12</a:t>
            </a:fld>
            <a:endParaRPr lang="en-US"/>
          </a:p>
        </p:txBody>
      </p:sp>
    </p:spTree>
    <p:extLst>
      <p:ext uri="{BB962C8B-B14F-4D97-AF65-F5344CB8AC3E}">
        <p14:creationId xmlns:p14="http://schemas.microsoft.com/office/powerpoint/2010/main" val="267722252"/>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B300B-AE84-4CE7-1E0C-036FB8EA2D6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FD89185-F12A-06BC-5228-74C58C7BC6BF}"/>
              </a:ext>
            </a:extLst>
          </p:cNvPr>
          <p:cNvSpPr txBox="1"/>
          <p:nvPr/>
        </p:nvSpPr>
        <p:spPr>
          <a:xfrm>
            <a:off x="184451" y="615267"/>
            <a:ext cx="8747277" cy="461665"/>
          </a:xfrm>
          <a:prstGeom prst="rect">
            <a:avLst/>
          </a:prstGeom>
          <a:noFill/>
        </p:spPr>
        <p:txBody>
          <a:bodyPr wrap="square">
            <a:spAutoFit/>
          </a:bodyPr>
          <a:lstStyle/>
          <a:p>
            <a:r>
              <a:rPr lang="en-GB" sz="2400" b="1"/>
              <a:t>Result:</a:t>
            </a:r>
            <a:endParaRPr lang="vi-VN" sz="2400" b="1"/>
          </a:p>
        </p:txBody>
      </p:sp>
      <p:pic>
        <p:nvPicPr>
          <p:cNvPr id="4" name="Picture 3">
            <a:extLst>
              <a:ext uri="{FF2B5EF4-FFF2-40B4-BE49-F238E27FC236}">
                <a16:creationId xmlns:a16="http://schemas.microsoft.com/office/drawing/2014/main" id="{3DFF54EF-51E7-89FB-DC42-D358B5B8DDE0}"/>
              </a:ext>
            </a:extLst>
          </p:cNvPr>
          <p:cNvPicPr>
            <a:picLocks noChangeAspect="1"/>
          </p:cNvPicPr>
          <p:nvPr/>
        </p:nvPicPr>
        <p:blipFill>
          <a:blip r:embed="rId2"/>
          <a:stretch>
            <a:fillRect/>
          </a:stretch>
        </p:blipFill>
        <p:spPr>
          <a:xfrm>
            <a:off x="0" y="1996245"/>
            <a:ext cx="12192000" cy="2865509"/>
          </a:xfrm>
          <a:prstGeom prst="rect">
            <a:avLst/>
          </a:prstGeom>
        </p:spPr>
      </p:pic>
      <p:sp>
        <p:nvSpPr>
          <p:cNvPr id="2" name="Slide Number Placeholder 1">
            <a:extLst>
              <a:ext uri="{FF2B5EF4-FFF2-40B4-BE49-F238E27FC236}">
                <a16:creationId xmlns:a16="http://schemas.microsoft.com/office/drawing/2014/main" id="{0B1BEE39-7689-7FEE-6116-D2E95CFA0C24}"/>
              </a:ext>
            </a:extLst>
          </p:cNvPr>
          <p:cNvSpPr>
            <a:spLocks noGrp="1"/>
          </p:cNvSpPr>
          <p:nvPr>
            <p:ph type="sldNum" sz="quarter" idx="12"/>
          </p:nvPr>
        </p:nvSpPr>
        <p:spPr/>
        <p:txBody>
          <a:bodyPr/>
          <a:lstStyle/>
          <a:p>
            <a:fld id="{05F3D0EC-E5D6-4C0D-98AB-7F70DA2736DE}" type="slidenum">
              <a:rPr lang="en-US" smtClean="0"/>
              <a:t>13</a:t>
            </a:fld>
            <a:endParaRPr lang="en-US"/>
          </a:p>
        </p:txBody>
      </p:sp>
    </p:spTree>
    <p:extLst>
      <p:ext uri="{BB962C8B-B14F-4D97-AF65-F5344CB8AC3E}">
        <p14:creationId xmlns:p14="http://schemas.microsoft.com/office/powerpoint/2010/main" val="1743668800"/>
      </p:ext>
    </p:extLst>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7E378E-8113-F659-0660-2FE073C9B78F}"/>
              </a:ext>
            </a:extLst>
          </p:cNvPr>
          <p:cNvSpPr txBox="1"/>
          <p:nvPr/>
        </p:nvSpPr>
        <p:spPr>
          <a:xfrm>
            <a:off x="117987" y="620732"/>
            <a:ext cx="11936361" cy="1107996"/>
          </a:xfrm>
          <a:prstGeom prst="rect">
            <a:avLst/>
          </a:prstGeom>
          <a:noFill/>
        </p:spPr>
        <p:txBody>
          <a:bodyPr wrap="square">
            <a:spAutoFit/>
          </a:bodyPr>
          <a:lstStyle/>
          <a:p>
            <a:r>
              <a:rPr lang="en-US" sz="2200" b="1" dirty="0"/>
              <a:t>[2] Fault resilience analysis of a RISC-V microprocessor design through a dedicated UVM environment	     </a:t>
            </a:r>
          </a:p>
          <a:p>
            <a:pPr algn="r"/>
            <a:r>
              <a:rPr lang="en-US" sz="2200" dirty="0"/>
              <a:t>Author: </a:t>
            </a:r>
            <a:r>
              <a:rPr lang="it-IT" sz="2200" b="1" dirty="0"/>
              <a:t>Barbirotta M, Mastrandrea A, Menichelli F, Vigli F, Blasi L</a:t>
            </a:r>
            <a:endParaRPr lang="en-US" sz="2200" b="1" dirty="0"/>
          </a:p>
        </p:txBody>
      </p:sp>
      <p:pic>
        <p:nvPicPr>
          <p:cNvPr id="12" name="Picture 11">
            <a:extLst>
              <a:ext uri="{FF2B5EF4-FFF2-40B4-BE49-F238E27FC236}">
                <a16:creationId xmlns:a16="http://schemas.microsoft.com/office/drawing/2014/main" id="{48D0103C-6E59-EC51-BDDD-3D10A00A6A5A}"/>
              </a:ext>
            </a:extLst>
          </p:cNvPr>
          <p:cNvPicPr>
            <a:picLocks noChangeAspect="1"/>
          </p:cNvPicPr>
          <p:nvPr/>
        </p:nvPicPr>
        <p:blipFill>
          <a:blip r:embed="rId2"/>
          <a:stretch>
            <a:fillRect/>
          </a:stretch>
        </p:blipFill>
        <p:spPr>
          <a:xfrm>
            <a:off x="7221427" y="2204905"/>
            <a:ext cx="4204729" cy="3349158"/>
          </a:xfrm>
          <a:prstGeom prst="rect">
            <a:avLst/>
          </a:prstGeom>
        </p:spPr>
      </p:pic>
      <p:sp>
        <p:nvSpPr>
          <p:cNvPr id="5" name="TextBox 4">
            <a:extLst>
              <a:ext uri="{FF2B5EF4-FFF2-40B4-BE49-F238E27FC236}">
                <a16:creationId xmlns:a16="http://schemas.microsoft.com/office/drawing/2014/main" id="{515880B6-FE3A-CEC8-ACD1-441D80F04480}"/>
              </a:ext>
            </a:extLst>
          </p:cNvPr>
          <p:cNvSpPr txBox="1"/>
          <p:nvPr/>
        </p:nvSpPr>
        <p:spPr>
          <a:xfrm>
            <a:off x="324464" y="2099073"/>
            <a:ext cx="6096000" cy="430887"/>
          </a:xfrm>
          <a:prstGeom prst="rect">
            <a:avLst/>
          </a:prstGeom>
          <a:noFill/>
        </p:spPr>
        <p:txBody>
          <a:bodyPr wrap="square">
            <a:spAutoFit/>
          </a:bodyPr>
          <a:lstStyle/>
          <a:p>
            <a:r>
              <a:rPr lang="en-US" sz="2200" b="1" dirty="0"/>
              <a:t>Technical Problem &amp; Scope of Survey</a:t>
            </a:r>
          </a:p>
        </p:txBody>
      </p:sp>
      <p:sp>
        <p:nvSpPr>
          <p:cNvPr id="7" name="TextBox 6">
            <a:extLst>
              <a:ext uri="{FF2B5EF4-FFF2-40B4-BE49-F238E27FC236}">
                <a16:creationId xmlns:a16="http://schemas.microsoft.com/office/drawing/2014/main" id="{0E95A00C-7F45-C518-C2D0-7160A4F2D1A3}"/>
              </a:ext>
            </a:extLst>
          </p:cNvPr>
          <p:cNvSpPr txBox="1"/>
          <p:nvPr/>
        </p:nvSpPr>
        <p:spPr>
          <a:xfrm>
            <a:off x="324464" y="2791183"/>
            <a:ext cx="6292646" cy="1477328"/>
          </a:xfrm>
          <a:prstGeom prst="rect">
            <a:avLst/>
          </a:prstGeom>
          <a:noFill/>
        </p:spPr>
        <p:txBody>
          <a:bodyPr wrap="square">
            <a:spAutoFit/>
          </a:bodyPr>
          <a:lstStyle/>
          <a:p>
            <a:pPr>
              <a:buNone/>
            </a:pPr>
            <a:r>
              <a:rPr lang="en-US" b="1" dirty="0"/>
              <a:t>Problem / Context:</a:t>
            </a:r>
            <a:endParaRPr lang="en-US" dirty="0"/>
          </a:p>
          <a:p>
            <a:r>
              <a:rPr lang="en-US" dirty="0"/>
              <a:t>Fault resilience under hardware errors</a:t>
            </a:r>
          </a:p>
          <a:p>
            <a:r>
              <a:rPr lang="en-US" dirty="0"/>
              <a:t>High relevance in safety-critical domains</a:t>
            </a:r>
          </a:p>
          <a:p>
            <a:r>
              <a:rPr lang="en-US" dirty="0"/>
              <a:t>Need for scalable and application-oriented trustworthiness evaluation</a:t>
            </a:r>
          </a:p>
        </p:txBody>
      </p:sp>
      <p:sp>
        <p:nvSpPr>
          <p:cNvPr id="9" name="TextBox 8">
            <a:extLst>
              <a:ext uri="{FF2B5EF4-FFF2-40B4-BE49-F238E27FC236}">
                <a16:creationId xmlns:a16="http://schemas.microsoft.com/office/drawing/2014/main" id="{0EFB68B3-9CCE-66CB-9DC6-EDF3DAD31134}"/>
              </a:ext>
            </a:extLst>
          </p:cNvPr>
          <p:cNvSpPr txBox="1"/>
          <p:nvPr/>
        </p:nvSpPr>
        <p:spPr>
          <a:xfrm>
            <a:off x="324464" y="4529735"/>
            <a:ext cx="9674942" cy="1477328"/>
          </a:xfrm>
          <a:prstGeom prst="rect">
            <a:avLst/>
          </a:prstGeom>
          <a:noFill/>
        </p:spPr>
        <p:txBody>
          <a:bodyPr wrap="square">
            <a:spAutoFit/>
          </a:bodyPr>
          <a:lstStyle/>
          <a:p>
            <a:pPr>
              <a:buNone/>
            </a:pPr>
            <a:r>
              <a:rPr lang="en-US" b="1" dirty="0"/>
              <a:t>Scope / Objective:</a:t>
            </a:r>
          </a:p>
          <a:p>
            <a:pPr>
              <a:buNone/>
            </a:pPr>
            <a:r>
              <a:rPr lang="en-US" dirty="0" err="1"/>
              <a:t>Klessydra</a:t>
            </a:r>
            <a:r>
              <a:rPr lang="en-US" dirty="0"/>
              <a:t> T03 RISC-V</a:t>
            </a:r>
          </a:p>
          <a:p>
            <a:r>
              <a:rPr lang="en-US" dirty="0"/>
              <a:t>Survey methods combining </a:t>
            </a:r>
            <a:r>
              <a:rPr lang="en-US" b="1" dirty="0"/>
              <a:t>UVM verification</a:t>
            </a:r>
            <a:r>
              <a:rPr lang="en-US" dirty="0"/>
              <a:t> + </a:t>
            </a:r>
            <a:r>
              <a:rPr lang="en-US" b="1" dirty="0"/>
              <a:t>error injection</a:t>
            </a:r>
            <a:endParaRPr lang="en-US" dirty="0"/>
          </a:p>
          <a:p>
            <a:r>
              <a:rPr lang="en-US" dirty="0"/>
              <a:t>Focus on simulation and hardware-assisted verification (emulation/FPGA)</a:t>
            </a:r>
          </a:p>
          <a:p>
            <a:r>
              <a:rPr lang="en-US" dirty="0"/>
              <a:t>Assess robustness via fault injection across CNN layers and inputs</a:t>
            </a:r>
          </a:p>
        </p:txBody>
      </p:sp>
      <p:sp>
        <p:nvSpPr>
          <p:cNvPr id="10" name="Slide Number Placeholder 9">
            <a:extLst>
              <a:ext uri="{FF2B5EF4-FFF2-40B4-BE49-F238E27FC236}">
                <a16:creationId xmlns:a16="http://schemas.microsoft.com/office/drawing/2014/main" id="{3CA0DA24-48D0-381A-FB20-5DF486F133A5}"/>
              </a:ext>
            </a:extLst>
          </p:cNvPr>
          <p:cNvSpPr>
            <a:spLocks noGrp="1"/>
          </p:cNvSpPr>
          <p:nvPr>
            <p:ph type="sldNum" sz="quarter" idx="12"/>
          </p:nvPr>
        </p:nvSpPr>
        <p:spPr/>
        <p:txBody>
          <a:bodyPr/>
          <a:lstStyle/>
          <a:p>
            <a:fld id="{05F3D0EC-E5D6-4C0D-98AB-7F70DA2736DE}" type="slidenum">
              <a:rPr lang="en-US" smtClean="0"/>
              <a:t>14</a:t>
            </a:fld>
            <a:endParaRPr lang="en-US"/>
          </a:p>
        </p:txBody>
      </p:sp>
    </p:spTree>
    <p:extLst>
      <p:ext uri="{BB962C8B-B14F-4D97-AF65-F5344CB8AC3E}">
        <p14:creationId xmlns:p14="http://schemas.microsoft.com/office/powerpoint/2010/main" val="3859135344"/>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0391BDE-BEE8-FA42-C8D9-41A56471F5CC}"/>
              </a:ext>
            </a:extLst>
          </p:cNvPr>
          <p:cNvPicPr>
            <a:picLocks noChangeAspect="1"/>
          </p:cNvPicPr>
          <p:nvPr/>
        </p:nvPicPr>
        <p:blipFill>
          <a:blip r:embed="rId2"/>
          <a:stretch>
            <a:fillRect/>
          </a:stretch>
        </p:blipFill>
        <p:spPr>
          <a:xfrm>
            <a:off x="4847303" y="563748"/>
            <a:ext cx="7344697" cy="4004898"/>
          </a:xfrm>
          <a:prstGeom prst="rect">
            <a:avLst/>
          </a:prstGeom>
        </p:spPr>
      </p:pic>
      <p:sp>
        <p:nvSpPr>
          <p:cNvPr id="3" name="TextBox 2">
            <a:extLst>
              <a:ext uri="{FF2B5EF4-FFF2-40B4-BE49-F238E27FC236}">
                <a16:creationId xmlns:a16="http://schemas.microsoft.com/office/drawing/2014/main" id="{524BAA3A-0537-4410-7D1B-CA1BE65EDD0E}"/>
              </a:ext>
            </a:extLst>
          </p:cNvPr>
          <p:cNvSpPr txBox="1"/>
          <p:nvPr/>
        </p:nvSpPr>
        <p:spPr>
          <a:xfrm>
            <a:off x="334297" y="1250701"/>
            <a:ext cx="4748980" cy="430887"/>
          </a:xfrm>
          <a:prstGeom prst="rect">
            <a:avLst/>
          </a:prstGeom>
          <a:noFill/>
        </p:spPr>
        <p:txBody>
          <a:bodyPr wrap="square">
            <a:spAutoFit/>
          </a:bodyPr>
          <a:lstStyle/>
          <a:p>
            <a:r>
              <a:rPr lang="en-US" sz="2200" b="1" dirty="0"/>
              <a:t>Methods / Approaches Compared</a:t>
            </a:r>
          </a:p>
        </p:txBody>
      </p:sp>
      <p:sp>
        <p:nvSpPr>
          <p:cNvPr id="5" name="TextBox 4">
            <a:extLst>
              <a:ext uri="{FF2B5EF4-FFF2-40B4-BE49-F238E27FC236}">
                <a16:creationId xmlns:a16="http://schemas.microsoft.com/office/drawing/2014/main" id="{62400B26-8D86-5E79-EB2F-93D3825797B7}"/>
              </a:ext>
            </a:extLst>
          </p:cNvPr>
          <p:cNvSpPr txBox="1"/>
          <p:nvPr/>
        </p:nvSpPr>
        <p:spPr>
          <a:xfrm>
            <a:off x="1012723" y="2034883"/>
            <a:ext cx="3903406" cy="1200329"/>
          </a:xfrm>
          <a:prstGeom prst="rect">
            <a:avLst/>
          </a:prstGeom>
          <a:noFill/>
        </p:spPr>
        <p:txBody>
          <a:bodyPr wrap="square">
            <a:spAutoFit/>
          </a:bodyPr>
          <a:lstStyle/>
          <a:p>
            <a:pPr>
              <a:buNone/>
            </a:pPr>
            <a:r>
              <a:rPr lang="en-US" b="1" dirty="0"/>
              <a:t>Error injection types:</a:t>
            </a:r>
            <a:endParaRPr lang="en-US" dirty="0"/>
          </a:p>
          <a:p>
            <a:r>
              <a:rPr lang="en-US" dirty="0"/>
              <a:t>Single-bit register corruption</a:t>
            </a:r>
          </a:p>
          <a:p>
            <a:r>
              <a:rPr lang="en-US" dirty="0"/>
              <a:t>Time-frame based injection</a:t>
            </a:r>
          </a:p>
          <a:p>
            <a:r>
              <a:rPr lang="en-US" dirty="0"/>
              <a:t>Application-driven injection</a:t>
            </a:r>
          </a:p>
        </p:txBody>
      </p:sp>
      <p:sp>
        <p:nvSpPr>
          <p:cNvPr id="7" name="TextBox 6">
            <a:extLst>
              <a:ext uri="{FF2B5EF4-FFF2-40B4-BE49-F238E27FC236}">
                <a16:creationId xmlns:a16="http://schemas.microsoft.com/office/drawing/2014/main" id="{1363E02C-12CA-3008-249A-78B84F7F9F47}"/>
              </a:ext>
            </a:extLst>
          </p:cNvPr>
          <p:cNvSpPr txBox="1"/>
          <p:nvPr/>
        </p:nvSpPr>
        <p:spPr>
          <a:xfrm>
            <a:off x="1012723" y="3967828"/>
            <a:ext cx="3903406" cy="1200329"/>
          </a:xfrm>
          <a:prstGeom prst="rect">
            <a:avLst/>
          </a:prstGeom>
          <a:noFill/>
        </p:spPr>
        <p:txBody>
          <a:bodyPr wrap="square">
            <a:spAutoFit/>
          </a:bodyPr>
          <a:lstStyle/>
          <a:p>
            <a:pPr>
              <a:buNone/>
            </a:pPr>
            <a:r>
              <a:rPr lang="en-US" b="1" dirty="0"/>
              <a:t>Verification flows:</a:t>
            </a:r>
          </a:p>
          <a:p>
            <a:pPr>
              <a:buNone/>
            </a:pPr>
            <a:r>
              <a:rPr lang="en-US" b="1" dirty="0" err="1"/>
              <a:t>Klessydra</a:t>
            </a:r>
            <a:r>
              <a:rPr lang="en-US" b="1" dirty="0"/>
              <a:t> T03</a:t>
            </a:r>
            <a:r>
              <a:rPr lang="en-US" dirty="0"/>
              <a:t> as the DUT</a:t>
            </a:r>
          </a:p>
          <a:p>
            <a:pPr>
              <a:buNone/>
            </a:pPr>
            <a:r>
              <a:rPr lang="en-US" dirty="0"/>
              <a:t>UVM-based testbench architecture</a:t>
            </a:r>
          </a:p>
          <a:p>
            <a:r>
              <a:rPr lang="en-US" b="1" dirty="0"/>
              <a:t>Simulation only</a:t>
            </a:r>
            <a:r>
              <a:rPr lang="en-US" dirty="0"/>
              <a:t> (RTL + UVM)</a:t>
            </a:r>
          </a:p>
        </p:txBody>
      </p:sp>
      <p:sp>
        <p:nvSpPr>
          <p:cNvPr id="9" name="TextBox 8">
            <a:extLst>
              <a:ext uri="{FF2B5EF4-FFF2-40B4-BE49-F238E27FC236}">
                <a16:creationId xmlns:a16="http://schemas.microsoft.com/office/drawing/2014/main" id="{8B4410FE-1D4B-BA7F-3E73-C6E57035BA5C}"/>
              </a:ext>
            </a:extLst>
          </p:cNvPr>
          <p:cNvSpPr txBox="1"/>
          <p:nvPr/>
        </p:nvSpPr>
        <p:spPr>
          <a:xfrm>
            <a:off x="5083277" y="5044896"/>
            <a:ext cx="6096000" cy="1200329"/>
          </a:xfrm>
          <a:prstGeom prst="rect">
            <a:avLst/>
          </a:prstGeom>
          <a:noFill/>
        </p:spPr>
        <p:txBody>
          <a:bodyPr wrap="square">
            <a:spAutoFit/>
          </a:bodyPr>
          <a:lstStyle/>
          <a:p>
            <a:pPr>
              <a:buNone/>
            </a:pPr>
            <a:r>
              <a:rPr lang="en-US" b="1" dirty="0"/>
              <a:t>Fault handling:</a:t>
            </a:r>
            <a:endParaRPr lang="en-US" dirty="0"/>
          </a:p>
          <a:p>
            <a:r>
              <a:rPr lang="en-US" dirty="0"/>
              <a:t>Deterministic single-bit corruption</a:t>
            </a:r>
          </a:p>
          <a:p>
            <a:r>
              <a:rPr lang="en-US" dirty="0"/>
              <a:t>Application-oriented injection</a:t>
            </a:r>
          </a:p>
          <a:p>
            <a:r>
              <a:rPr lang="en-US" dirty="0"/>
              <a:t>Automated checking</a:t>
            </a:r>
          </a:p>
        </p:txBody>
      </p:sp>
      <p:sp>
        <p:nvSpPr>
          <p:cNvPr id="10" name="Slide Number Placeholder 9">
            <a:extLst>
              <a:ext uri="{FF2B5EF4-FFF2-40B4-BE49-F238E27FC236}">
                <a16:creationId xmlns:a16="http://schemas.microsoft.com/office/drawing/2014/main" id="{DCD9DEB6-2755-3FA0-F513-EDF2B22A5AE9}"/>
              </a:ext>
            </a:extLst>
          </p:cNvPr>
          <p:cNvSpPr>
            <a:spLocks noGrp="1"/>
          </p:cNvSpPr>
          <p:nvPr>
            <p:ph type="sldNum" sz="quarter" idx="12"/>
          </p:nvPr>
        </p:nvSpPr>
        <p:spPr/>
        <p:txBody>
          <a:bodyPr/>
          <a:lstStyle/>
          <a:p>
            <a:fld id="{05F3D0EC-E5D6-4C0D-98AB-7F70DA2736DE}" type="slidenum">
              <a:rPr lang="en-US" smtClean="0"/>
              <a:t>15</a:t>
            </a:fld>
            <a:endParaRPr lang="en-US"/>
          </a:p>
        </p:txBody>
      </p:sp>
      <p:sp>
        <p:nvSpPr>
          <p:cNvPr id="14" name="TextBox 13">
            <a:extLst>
              <a:ext uri="{FF2B5EF4-FFF2-40B4-BE49-F238E27FC236}">
                <a16:creationId xmlns:a16="http://schemas.microsoft.com/office/drawing/2014/main" id="{779A0132-6B55-9349-BBF6-100A992A06EF}"/>
              </a:ext>
            </a:extLst>
          </p:cNvPr>
          <p:cNvSpPr txBox="1"/>
          <p:nvPr/>
        </p:nvSpPr>
        <p:spPr>
          <a:xfrm>
            <a:off x="6902245" y="4568646"/>
            <a:ext cx="4208206" cy="369332"/>
          </a:xfrm>
          <a:prstGeom prst="rect">
            <a:avLst/>
          </a:prstGeom>
          <a:noFill/>
        </p:spPr>
        <p:txBody>
          <a:bodyPr wrap="square">
            <a:spAutoFit/>
          </a:bodyPr>
          <a:lstStyle/>
          <a:p>
            <a:r>
              <a:rPr lang="en-US" dirty="0"/>
              <a:t>Overall UVM environment architecture </a:t>
            </a:r>
          </a:p>
        </p:txBody>
      </p:sp>
    </p:spTree>
    <p:extLst>
      <p:ext uri="{BB962C8B-B14F-4D97-AF65-F5344CB8AC3E}">
        <p14:creationId xmlns:p14="http://schemas.microsoft.com/office/powerpoint/2010/main" val="1971062919"/>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EB5E11-A241-1678-EBF2-54C64C1646EA}"/>
              </a:ext>
            </a:extLst>
          </p:cNvPr>
          <p:cNvSpPr txBox="1"/>
          <p:nvPr/>
        </p:nvSpPr>
        <p:spPr>
          <a:xfrm>
            <a:off x="1515802" y="681047"/>
            <a:ext cx="3052489" cy="430887"/>
          </a:xfrm>
          <a:prstGeom prst="rect">
            <a:avLst/>
          </a:prstGeom>
          <a:noFill/>
        </p:spPr>
        <p:txBody>
          <a:bodyPr wrap="square">
            <a:spAutoFit/>
          </a:bodyPr>
          <a:lstStyle/>
          <a:p>
            <a:r>
              <a:rPr lang="en-US" sz="2200" b="1" dirty="0"/>
              <a:t>Findings &amp; Insights</a:t>
            </a:r>
          </a:p>
        </p:txBody>
      </p:sp>
      <p:sp>
        <p:nvSpPr>
          <p:cNvPr id="5" name="TextBox 4">
            <a:extLst>
              <a:ext uri="{FF2B5EF4-FFF2-40B4-BE49-F238E27FC236}">
                <a16:creationId xmlns:a16="http://schemas.microsoft.com/office/drawing/2014/main" id="{628D8D85-19E2-FF9D-4E84-68F06990CFCE}"/>
              </a:ext>
            </a:extLst>
          </p:cNvPr>
          <p:cNvSpPr txBox="1"/>
          <p:nvPr/>
        </p:nvSpPr>
        <p:spPr>
          <a:xfrm>
            <a:off x="363794" y="1214565"/>
            <a:ext cx="4552335" cy="2862322"/>
          </a:xfrm>
          <a:prstGeom prst="rect">
            <a:avLst/>
          </a:prstGeom>
          <a:noFill/>
        </p:spPr>
        <p:txBody>
          <a:bodyPr wrap="square">
            <a:spAutoFit/>
          </a:bodyPr>
          <a:lstStyle/>
          <a:p>
            <a:pPr>
              <a:buNone/>
            </a:pPr>
            <a:r>
              <a:rPr lang="en-US" b="1" dirty="0"/>
              <a:t>Results:</a:t>
            </a:r>
            <a:endParaRPr lang="en-US" dirty="0"/>
          </a:p>
          <a:p>
            <a:r>
              <a:rPr lang="en-US" dirty="0"/>
              <a:t>Varying CNN resilience:</a:t>
            </a:r>
          </a:p>
          <a:p>
            <a:pPr lvl="1"/>
            <a:r>
              <a:rPr lang="en-US" dirty="0"/>
              <a:t>Single-value errors often masked by </a:t>
            </a:r>
            <a:r>
              <a:rPr lang="en-US" dirty="0" err="1"/>
              <a:t>ReLU</a:t>
            </a:r>
            <a:r>
              <a:rPr lang="en-US" dirty="0"/>
              <a:t> or pooling</a:t>
            </a:r>
          </a:p>
          <a:p>
            <a:pPr lvl="1"/>
            <a:r>
              <a:rPr lang="en-US" dirty="0"/>
              <a:t>Multiple‐value errors propagate, impact accuracy (LeNet-5)</a:t>
            </a:r>
          </a:p>
          <a:p>
            <a:r>
              <a:rPr lang="en-US" dirty="0"/>
              <a:t>Emulation uncovers more faults than simulation</a:t>
            </a:r>
          </a:p>
          <a:p>
            <a:r>
              <a:rPr lang="en-US" dirty="0"/>
              <a:t>Minimal overhead; faster runtime vs. software-only methods</a:t>
            </a:r>
          </a:p>
        </p:txBody>
      </p:sp>
      <p:sp>
        <p:nvSpPr>
          <p:cNvPr id="7" name="TextBox 6">
            <a:extLst>
              <a:ext uri="{FF2B5EF4-FFF2-40B4-BE49-F238E27FC236}">
                <a16:creationId xmlns:a16="http://schemas.microsoft.com/office/drawing/2014/main" id="{459F21CD-C742-91AE-BFEA-717DA1AEA5DD}"/>
              </a:ext>
            </a:extLst>
          </p:cNvPr>
          <p:cNvSpPr txBox="1"/>
          <p:nvPr/>
        </p:nvSpPr>
        <p:spPr>
          <a:xfrm>
            <a:off x="363794" y="4331778"/>
            <a:ext cx="4552335" cy="2031325"/>
          </a:xfrm>
          <a:prstGeom prst="rect">
            <a:avLst/>
          </a:prstGeom>
          <a:noFill/>
        </p:spPr>
        <p:txBody>
          <a:bodyPr wrap="square">
            <a:spAutoFit/>
          </a:bodyPr>
          <a:lstStyle/>
          <a:p>
            <a:pPr>
              <a:buNone/>
            </a:pPr>
            <a:r>
              <a:rPr lang="en-US" b="1" dirty="0"/>
              <a:t>Evaluations &amp; Insights:</a:t>
            </a:r>
            <a:endParaRPr lang="en-US" dirty="0"/>
          </a:p>
          <a:p>
            <a:r>
              <a:rPr lang="en-US" dirty="0"/>
              <a:t>UVM + error injection = scalable &amp; portable verification framework</a:t>
            </a:r>
          </a:p>
          <a:p>
            <a:r>
              <a:rPr lang="en-US" dirty="0"/>
              <a:t>Flexible for different CNNs, covers corner cases</a:t>
            </a:r>
          </a:p>
          <a:p>
            <a:r>
              <a:rPr lang="en-US" dirty="0"/>
              <a:t>The method enhances visibility, early detection, and pre-silicon reliability</a:t>
            </a:r>
          </a:p>
        </p:txBody>
      </p:sp>
      <p:sp>
        <p:nvSpPr>
          <p:cNvPr id="8" name="Slide Number Placeholder 7">
            <a:extLst>
              <a:ext uri="{FF2B5EF4-FFF2-40B4-BE49-F238E27FC236}">
                <a16:creationId xmlns:a16="http://schemas.microsoft.com/office/drawing/2014/main" id="{5461DDA3-3493-411B-5E2B-5CB282DB18A8}"/>
              </a:ext>
            </a:extLst>
          </p:cNvPr>
          <p:cNvSpPr>
            <a:spLocks noGrp="1"/>
          </p:cNvSpPr>
          <p:nvPr>
            <p:ph type="sldNum" sz="quarter" idx="12"/>
          </p:nvPr>
        </p:nvSpPr>
        <p:spPr/>
        <p:txBody>
          <a:bodyPr/>
          <a:lstStyle/>
          <a:p>
            <a:fld id="{05F3D0EC-E5D6-4C0D-98AB-7F70DA2736DE}" type="slidenum">
              <a:rPr lang="en-US" smtClean="0"/>
              <a:t>16</a:t>
            </a:fld>
            <a:endParaRPr lang="en-US"/>
          </a:p>
        </p:txBody>
      </p:sp>
      <p:pic>
        <p:nvPicPr>
          <p:cNvPr id="10" name="Picture 9">
            <a:extLst>
              <a:ext uri="{FF2B5EF4-FFF2-40B4-BE49-F238E27FC236}">
                <a16:creationId xmlns:a16="http://schemas.microsoft.com/office/drawing/2014/main" id="{2FCEC456-DAD9-B0CA-BB48-FABE71FD5826}"/>
              </a:ext>
            </a:extLst>
          </p:cNvPr>
          <p:cNvPicPr>
            <a:picLocks noChangeAspect="1"/>
          </p:cNvPicPr>
          <p:nvPr/>
        </p:nvPicPr>
        <p:blipFill>
          <a:blip r:embed="rId2"/>
          <a:stretch>
            <a:fillRect/>
          </a:stretch>
        </p:blipFill>
        <p:spPr>
          <a:xfrm>
            <a:off x="4966286" y="3421517"/>
            <a:ext cx="3607660" cy="2474797"/>
          </a:xfrm>
          <a:prstGeom prst="rect">
            <a:avLst/>
          </a:prstGeom>
        </p:spPr>
      </p:pic>
      <p:pic>
        <p:nvPicPr>
          <p:cNvPr id="12" name="Picture 11">
            <a:extLst>
              <a:ext uri="{FF2B5EF4-FFF2-40B4-BE49-F238E27FC236}">
                <a16:creationId xmlns:a16="http://schemas.microsoft.com/office/drawing/2014/main" id="{EB493977-35CD-F606-2EA0-ACB549AB4BAB}"/>
              </a:ext>
            </a:extLst>
          </p:cNvPr>
          <p:cNvPicPr>
            <a:picLocks noChangeAspect="1"/>
          </p:cNvPicPr>
          <p:nvPr/>
        </p:nvPicPr>
        <p:blipFill>
          <a:blip r:embed="rId3"/>
          <a:stretch>
            <a:fillRect/>
          </a:stretch>
        </p:blipFill>
        <p:spPr>
          <a:xfrm>
            <a:off x="4946621" y="896490"/>
            <a:ext cx="3667649" cy="2474797"/>
          </a:xfrm>
          <a:prstGeom prst="rect">
            <a:avLst/>
          </a:prstGeom>
        </p:spPr>
      </p:pic>
      <p:pic>
        <p:nvPicPr>
          <p:cNvPr id="14" name="Picture 13">
            <a:extLst>
              <a:ext uri="{FF2B5EF4-FFF2-40B4-BE49-F238E27FC236}">
                <a16:creationId xmlns:a16="http://schemas.microsoft.com/office/drawing/2014/main" id="{1E41D26F-6D4F-EBE7-5EFF-9089C885A5FE}"/>
              </a:ext>
            </a:extLst>
          </p:cNvPr>
          <p:cNvPicPr>
            <a:picLocks noChangeAspect="1"/>
          </p:cNvPicPr>
          <p:nvPr/>
        </p:nvPicPr>
        <p:blipFill>
          <a:blip r:embed="rId4"/>
          <a:stretch>
            <a:fillRect/>
          </a:stretch>
        </p:blipFill>
        <p:spPr>
          <a:xfrm>
            <a:off x="8588907" y="896491"/>
            <a:ext cx="3534269" cy="2475420"/>
          </a:xfrm>
          <a:prstGeom prst="rect">
            <a:avLst/>
          </a:prstGeom>
        </p:spPr>
      </p:pic>
      <p:pic>
        <p:nvPicPr>
          <p:cNvPr id="16" name="Picture 15">
            <a:extLst>
              <a:ext uri="{FF2B5EF4-FFF2-40B4-BE49-F238E27FC236}">
                <a16:creationId xmlns:a16="http://schemas.microsoft.com/office/drawing/2014/main" id="{D5CF7360-86F7-2D53-D4A7-F56B33A97554}"/>
              </a:ext>
            </a:extLst>
          </p:cNvPr>
          <p:cNvPicPr>
            <a:picLocks noChangeAspect="1"/>
          </p:cNvPicPr>
          <p:nvPr/>
        </p:nvPicPr>
        <p:blipFill>
          <a:blip r:embed="rId5"/>
          <a:stretch>
            <a:fillRect/>
          </a:stretch>
        </p:blipFill>
        <p:spPr>
          <a:xfrm>
            <a:off x="8588907" y="3371911"/>
            <a:ext cx="3534269" cy="2539368"/>
          </a:xfrm>
          <a:prstGeom prst="rect">
            <a:avLst/>
          </a:prstGeom>
        </p:spPr>
      </p:pic>
      <p:sp>
        <p:nvSpPr>
          <p:cNvPr id="18" name="TextBox 17">
            <a:extLst>
              <a:ext uri="{FF2B5EF4-FFF2-40B4-BE49-F238E27FC236}">
                <a16:creationId xmlns:a16="http://schemas.microsoft.com/office/drawing/2014/main" id="{9B360D80-9DA1-7CDE-3C25-2DB719BDB9AE}"/>
              </a:ext>
            </a:extLst>
          </p:cNvPr>
          <p:cNvSpPr txBox="1"/>
          <p:nvPr/>
        </p:nvSpPr>
        <p:spPr>
          <a:xfrm>
            <a:off x="5614220" y="5961509"/>
            <a:ext cx="6096000" cy="369332"/>
          </a:xfrm>
          <a:prstGeom prst="rect">
            <a:avLst/>
          </a:prstGeom>
          <a:noFill/>
        </p:spPr>
        <p:txBody>
          <a:bodyPr wrap="square">
            <a:spAutoFit/>
          </a:bodyPr>
          <a:lstStyle/>
          <a:p>
            <a:r>
              <a:rPr lang="en-US" dirty="0"/>
              <a:t>Outcomes of fault injection aggregated for hardware units </a:t>
            </a:r>
          </a:p>
        </p:txBody>
      </p:sp>
    </p:spTree>
    <p:extLst>
      <p:ext uri="{BB962C8B-B14F-4D97-AF65-F5344CB8AC3E}">
        <p14:creationId xmlns:p14="http://schemas.microsoft.com/office/powerpoint/2010/main" val="115753956"/>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090F8C-478E-7221-0896-83A7E2142D27}"/>
              </a:ext>
            </a:extLst>
          </p:cNvPr>
          <p:cNvSpPr txBox="1"/>
          <p:nvPr/>
        </p:nvSpPr>
        <p:spPr>
          <a:xfrm>
            <a:off x="2025445" y="661585"/>
            <a:ext cx="7096203" cy="769441"/>
          </a:xfrm>
          <a:prstGeom prst="rect">
            <a:avLst/>
          </a:prstGeom>
          <a:noFill/>
        </p:spPr>
        <p:txBody>
          <a:bodyPr wrap="square" rtlCol="0">
            <a:spAutoFit/>
          </a:bodyPr>
          <a:lstStyle/>
          <a:p>
            <a:r>
              <a:rPr lang="en-US" sz="2200" b="1" dirty="0"/>
              <a:t>[6] UVM environment for RISC-V processors</a:t>
            </a:r>
          </a:p>
          <a:p>
            <a:pPr algn="r"/>
            <a:r>
              <a:rPr lang="en-US" sz="2200" dirty="0"/>
              <a:t>By: Leonardo Barraco </a:t>
            </a:r>
          </a:p>
        </p:txBody>
      </p:sp>
      <p:pic>
        <p:nvPicPr>
          <p:cNvPr id="15" name="Picture 14">
            <a:extLst>
              <a:ext uri="{FF2B5EF4-FFF2-40B4-BE49-F238E27FC236}">
                <a16:creationId xmlns:a16="http://schemas.microsoft.com/office/drawing/2014/main" id="{0FEB8370-0C45-9197-15DD-01FC0637A4BB}"/>
              </a:ext>
            </a:extLst>
          </p:cNvPr>
          <p:cNvPicPr>
            <a:picLocks noChangeAspect="1"/>
          </p:cNvPicPr>
          <p:nvPr/>
        </p:nvPicPr>
        <p:blipFill>
          <a:blip r:embed="rId2"/>
          <a:stretch>
            <a:fillRect/>
          </a:stretch>
        </p:blipFill>
        <p:spPr>
          <a:xfrm>
            <a:off x="4471416" y="2843784"/>
            <a:ext cx="7513877" cy="3410585"/>
          </a:xfrm>
          <a:prstGeom prst="rect">
            <a:avLst/>
          </a:prstGeom>
        </p:spPr>
      </p:pic>
      <p:pic>
        <p:nvPicPr>
          <p:cNvPr id="18" name="Picture 17">
            <a:extLst>
              <a:ext uri="{FF2B5EF4-FFF2-40B4-BE49-F238E27FC236}">
                <a16:creationId xmlns:a16="http://schemas.microsoft.com/office/drawing/2014/main" id="{1C96993E-6E2D-680F-DA7A-5E847D718F98}"/>
              </a:ext>
            </a:extLst>
          </p:cNvPr>
          <p:cNvPicPr>
            <a:picLocks noChangeAspect="1"/>
          </p:cNvPicPr>
          <p:nvPr/>
        </p:nvPicPr>
        <p:blipFill>
          <a:blip r:embed="rId3"/>
          <a:stretch>
            <a:fillRect/>
          </a:stretch>
        </p:blipFill>
        <p:spPr>
          <a:xfrm>
            <a:off x="9140822" y="512224"/>
            <a:ext cx="2807895" cy="2624201"/>
          </a:xfrm>
          <a:prstGeom prst="rect">
            <a:avLst/>
          </a:prstGeom>
        </p:spPr>
      </p:pic>
      <p:pic>
        <p:nvPicPr>
          <p:cNvPr id="20" name="Picture 19">
            <a:extLst>
              <a:ext uri="{FF2B5EF4-FFF2-40B4-BE49-F238E27FC236}">
                <a16:creationId xmlns:a16="http://schemas.microsoft.com/office/drawing/2014/main" id="{EA39E3F5-B30C-0A22-A3E1-F3569D4A2C37}"/>
              </a:ext>
            </a:extLst>
          </p:cNvPr>
          <p:cNvPicPr>
            <a:picLocks noChangeAspect="1"/>
          </p:cNvPicPr>
          <p:nvPr/>
        </p:nvPicPr>
        <p:blipFill>
          <a:blip r:embed="rId4"/>
          <a:stretch>
            <a:fillRect/>
          </a:stretch>
        </p:blipFill>
        <p:spPr>
          <a:xfrm>
            <a:off x="1347215" y="1519416"/>
            <a:ext cx="6986057" cy="943661"/>
          </a:xfrm>
          <a:prstGeom prst="rect">
            <a:avLst/>
          </a:prstGeom>
        </p:spPr>
      </p:pic>
      <p:sp>
        <p:nvSpPr>
          <p:cNvPr id="21" name="TextBox 20">
            <a:extLst>
              <a:ext uri="{FF2B5EF4-FFF2-40B4-BE49-F238E27FC236}">
                <a16:creationId xmlns:a16="http://schemas.microsoft.com/office/drawing/2014/main" id="{D5DC1583-6029-6DA5-97C4-75C3A10E80CE}"/>
              </a:ext>
            </a:extLst>
          </p:cNvPr>
          <p:cNvSpPr txBox="1"/>
          <p:nvPr/>
        </p:nvSpPr>
        <p:spPr>
          <a:xfrm>
            <a:off x="3974592" y="2254701"/>
            <a:ext cx="2121408" cy="369332"/>
          </a:xfrm>
          <a:prstGeom prst="rect">
            <a:avLst/>
          </a:prstGeom>
          <a:noFill/>
        </p:spPr>
        <p:txBody>
          <a:bodyPr wrap="square" rtlCol="0">
            <a:spAutoFit/>
          </a:bodyPr>
          <a:lstStyle/>
          <a:p>
            <a:r>
              <a:rPr lang="en-US" dirty="0"/>
              <a:t>VLSI Design Flow</a:t>
            </a:r>
          </a:p>
        </p:txBody>
      </p:sp>
      <p:pic>
        <p:nvPicPr>
          <p:cNvPr id="9" name="Picture 8">
            <a:extLst>
              <a:ext uri="{FF2B5EF4-FFF2-40B4-BE49-F238E27FC236}">
                <a16:creationId xmlns:a16="http://schemas.microsoft.com/office/drawing/2014/main" id="{5A79B6B8-154E-B3EC-1612-EB426CB1CB54}"/>
              </a:ext>
            </a:extLst>
          </p:cNvPr>
          <p:cNvPicPr>
            <a:picLocks noChangeAspect="1"/>
          </p:cNvPicPr>
          <p:nvPr/>
        </p:nvPicPr>
        <p:blipFill>
          <a:blip r:embed="rId5">
            <a:alphaModFix amt="16000"/>
          </a:blip>
          <a:stretch>
            <a:fillRect/>
          </a:stretch>
        </p:blipFill>
        <p:spPr>
          <a:xfrm>
            <a:off x="100584" y="512224"/>
            <a:ext cx="1737572" cy="1489900"/>
          </a:xfrm>
          <a:prstGeom prst="rect">
            <a:avLst/>
          </a:prstGeom>
        </p:spPr>
      </p:pic>
      <p:sp>
        <p:nvSpPr>
          <p:cNvPr id="26" name="TextBox 25">
            <a:extLst>
              <a:ext uri="{FF2B5EF4-FFF2-40B4-BE49-F238E27FC236}">
                <a16:creationId xmlns:a16="http://schemas.microsoft.com/office/drawing/2014/main" id="{16B70762-BB3E-0DE7-9DFF-8039F8E6A46C}"/>
              </a:ext>
            </a:extLst>
          </p:cNvPr>
          <p:cNvSpPr txBox="1"/>
          <p:nvPr/>
        </p:nvSpPr>
        <p:spPr>
          <a:xfrm>
            <a:off x="252427" y="2624033"/>
            <a:ext cx="4264709" cy="3970318"/>
          </a:xfrm>
          <a:prstGeom prst="rect">
            <a:avLst/>
          </a:prstGeom>
          <a:noFill/>
        </p:spPr>
        <p:txBody>
          <a:bodyPr wrap="square" rtlCol="0">
            <a:spAutoFit/>
          </a:bodyPr>
          <a:lstStyle/>
          <a:p>
            <a:r>
              <a:rPr lang="en-US" b="1" dirty="0">
                <a:cs typeface="Times New Roman" panose="02020603050405020304" charset="0"/>
                <a:sym typeface="+mn-ea"/>
              </a:rPr>
              <a:t>Technical Problem</a:t>
            </a:r>
          </a:p>
          <a:p>
            <a:endParaRPr lang="en-US" b="1" dirty="0">
              <a:cs typeface="Times New Roman" panose="02020603050405020304" pitchFamily="18" charset="0"/>
            </a:endParaRPr>
          </a:p>
          <a:p>
            <a:r>
              <a:rPr lang="en-US" b="1" dirty="0">
                <a:cs typeface="Times New Roman" panose="02020603050405020304" pitchFamily="18" charset="0"/>
              </a:rPr>
              <a:t>Problem:</a:t>
            </a:r>
            <a:endParaRPr lang="en-US" dirty="0">
              <a:cs typeface="Times New Roman" panose="02020603050405020304" pitchFamily="18" charset="0"/>
            </a:endParaRPr>
          </a:p>
          <a:p>
            <a:pPr lvl="0" eaLnBrk="0" fontAlgn="base" hangingPunct="0">
              <a:spcBef>
                <a:spcPct val="0"/>
              </a:spcBef>
              <a:spcAft>
                <a:spcPct val="0"/>
              </a:spcAft>
            </a:pPr>
            <a:r>
              <a:rPr lang="en-US" altLang="en-US" dirty="0"/>
              <a:t>+ Functional verification bottleneck</a:t>
            </a:r>
          </a:p>
          <a:p>
            <a:pPr lvl="0" eaLnBrk="0" fontAlgn="base" hangingPunct="0">
              <a:spcBef>
                <a:spcPct val="0"/>
              </a:spcBef>
              <a:spcAft>
                <a:spcPct val="0"/>
              </a:spcAft>
            </a:pPr>
            <a:r>
              <a:rPr lang="en-US" altLang="en-US" dirty="0"/>
              <a:t>+ RISC-V processor complexity</a:t>
            </a:r>
          </a:p>
          <a:p>
            <a:pPr lvl="0" eaLnBrk="0" fontAlgn="base" hangingPunct="0">
              <a:spcBef>
                <a:spcPct val="0"/>
              </a:spcBef>
              <a:spcAft>
                <a:spcPct val="0"/>
              </a:spcAft>
            </a:pPr>
            <a:r>
              <a:rPr lang="en-US" altLang="en-US" dirty="0"/>
              <a:t>+ Time-consuming (≈70% design effort)</a:t>
            </a:r>
          </a:p>
          <a:p>
            <a:pPr lvl="0" eaLnBrk="0" fontAlgn="base" hangingPunct="0">
              <a:spcBef>
                <a:spcPct val="0"/>
              </a:spcBef>
              <a:spcAft>
                <a:spcPct val="0"/>
              </a:spcAft>
            </a:pPr>
            <a:r>
              <a:rPr lang="en-US" altLang="en-US" dirty="0"/>
              <a:t>+ Risk of undetected hardware bugs</a:t>
            </a:r>
          </a:p>
          <a:p>
            <a:pPr lvl="0" eaLnBrk="0" fontAlgn="base" hangingPunct="0">
              <a:spcBef>
                <a:spcPct val="0"/>
              </a:spcBef>
              <a:spcAft>
                <a:spcPct val="0"/>
              </a:spcAft>
            </a:pPr>
            <a:endParaRPr lang="en-US" altLang="en-US" dirty="0"/>
          </a:p>
          <a:p>
            <a:r>
              <a:rPr lang="en-US" b="1" dirty="0"/>
              <a:t>Solution:</a:t>
            </a:r>
            <a:endParaRPr lang="en-US" b="1" dirty="0">
              <a:cs typeface="Times New Roman" panose="02020603050405020304" pitchFamily="18" charset="0"/>
            </a:endParaRPr>
          </a:p>
          <a:p>
            <a:pPr lvl="0" eaLnBrk="0" fontAlgn="base" hangingPunct="0">
              <a:spcBef>
                <a:spcPct val="0"/>
              </a:spcBef>
              <a:spcAft>
                <a:spcPct val="0"/>
              </a:spcAft>
            </a:pPr>
            <a:r>
              <a:rPr lang="en-US" altLang="en-US" dirty="0"/>
              <a:t>+ </a:t>
            </a:r>
            <a:r>
              <a:rPr lang="en-US" dirty="0">
                <a:cs typeface="Times New Roman" panose="02020603050405020304" pitchFamily="18" charset="0"/>
              </a:rPr>
              <a:t>UVM-based verification environment</a:t>
            </a:r>
          </a:p>
          <a:p>
            <a:pPr lvl="0" eaLnBrk="0" fontAlgn="base" hangingPunct="0">
              <a:spcBef>
                <a:spcPct val="0"/>
              </a:spcBef>
              <a:spcAft>
                <a:spcPct val="0"/>
              </a:spcAft>
            </a:pPr>
            <a:r>
              <a:rPr lang="en-US" altLang="en-US" dirty="0"/>
              <a:t>+ </a:t>
            </a:r>
            <a:r>
              <a:rPr lang="en-US" dirty="0">
                <a:cs typeface="Times New Roman" panose="02020603050405020304" pitchFamily="18" charset="0"/>
              </a:rPr>
              <a:t>Automated testbench</a:t>
            </a:r>
          </a:p>
          <a:p>
            <a:pPr lvl="0" eaLnBrk="0" fontAlgn="base" hangingPunct="0">
              <a:spcBef>
                <a:spcPct val="0"/>
              </a:spcBef>
              <a:spcAft>
                <a:spcPct val="0"/>
              </a:spcAft>
            </a:pPr>
            <a:r>
              <a:rPr lang="en-US" altLang="en-US" dirty="0"/>
              <a:t>+ </a:t>
            </a:r>
            <a:r>
              <a:rPr lang="en-US" dirty="0">
                <a:cs typeface="Times New Roman" panose="02020603050405020304" pitchFamily="18" charset="0"/>
              </a:rPr>
              <a:t>Randomized test generation</a:t>
            </a:r>
          </a:p>
          <a:p>
            <a:pPr lvl="0" eaLnBrk="0" fontAlgn="base" hangingPunct="0">
              <a:spcBef>
                <a:spcPct val="0"/>
              </a:spcBef>
              <a:spcAft>
                <a:spcPct val="0"/>
              </a:spcAft>
            </a:pPr>
            <a:r>
              <a:rPr lang="en-US" altLang="en-US" dirty="0"/>
              <a:t>+ </a:t>
            </a:r>
            <a:r>
              <a:rPr lang="en-US" dirty="0">
                <a:cs typeface="Times New Roman" panose="02020603050405020304" pitchFamily="18" charset="0"/>
              </a:rPr>
              <a:t>Coverage-driven methodology</a:t>
            </a:r>
          </a:p>
          <a:p>
            <a:endParaRPr lang="en-US" dirty="0"/>
          </a:p>
        </p:txBody>
      </p:sp>
      <p:sp>
        <p:nvSpPr>
          <p:cNvPr id="2" name="Slide Number Placeholder 1">
            <a:extLst>
              <a:ext uri="{FF2B5EF4-FFF2-40B4-BE49-F238E27FC236}">
                <a16:creationId xmlns:a16="http://schemas.microsoft.com/office/drawing/2014/main" id="{05550821-AFA3-E369-878B-37A2BBEA55D4}"/>
              </a:ext>
            </a:extLst>
          </p:cNvPr>
          <p:cNvSpPr>
            <a:spLocks noGrp="1"/>
          </p:cNvSpPr>
          <p:nvPr>
            <p:ph type="sldNum" sz="quarter" idx="12"/>
          </p:nvPr>
        </p:nvSpPr>
        <p:spPr/>
        <p:txBody>
          <a:bodyPr/>
          <a:lstStyle/>
          <a:p>
            <a:fld id="{05F3D0EC-E5D6-4C0D-98AB-7F70DA2736DE}" type="slidenum">
              <a:rPr lang="en-US" smtClean="0"/>
              <a:t>17</a:t>
            </a:fld>
            <a:endParaRPr lang="en-US"/>
          </a:p>
        </p:txBody>
      </p:sp>
    </p:spTree>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0106C54E-2FFB-B126-2FFA-266CCA385271}"/>
              </a:ext>
            </a:extLst>
          </p:cNvPr>
          <p:cNvPicPr>
            <a:picLocks noChangeAspect="1"/>
          </p:cNvPicPr>
          <p:nvPr/>
        </p:nvPicPr>
        <p:blipFill>
          <a:blip r:embed="rId2"/>
          <a:stretch>
            <a:fillRect/>
          </a:stretch>
        </p:blipFill>
        <p:spPr>
          <a:xfrm>
            <a:off x="7921158" y="492323"/>
            <a:ext cx="4158241" cy="2900175"/>
          </a:xfrm>
          <a:prstGeom prst="rect">
            <a:avLst/>
          </a:prstGeom>
        </p:spPr>
      </p:pic>
      <p:sp>
        <p:nvSpPr>
          <p:cNvPr id="3" name="TextBox 2">
            <a:extLst>
              <a:ext uri="{FF2B5EF4-FFF2-40B4-BE49-F238E27FC236}">
                <a16:creationId xmlns:a16="http://schemas.microsoft.com/office/drawing/2014/main" id="{54AEBC50-FB11-90E8-B1CC-CABD9C63FA4E}"/>
              </a:ext>
            </a:extLst>
          </p:cNvPr>
          <p:cNvSpPr txBox="1"/>
          <p:nvPr/>
        </p:nvSpPr>
        <p:spPr>
          <a:xfrm>
            <a:off x="521208" y="566130"/>
            <a:ext cx="6775704" cy="430887"/>
          </a:xfrm>
          <a:prstGeom prst="rect">
            <a:avLst/>
          </a:prstGeom>
          <a:noFill/>
        </p:spPr>
        <p:txBody>
          <a:bodyPr wrap="square" rtlCol="0">
            <a:spAutoFit/>
          </a:bodyPr>
          <a:lstStyle/>
          <a:p>
            <a:r>
              <a:rPr lang="en-US" sz="2200" b="1" dirty="0">
                <a:latin typeface="Times New Roman" panose="02020603050405020304" charset="0"/>
                <a:cs typeface="Times New Roman" panose="02020603050405020304" charset="0"/>
                <a:sym typeface="+mn-ea"/>
              </a:rPr>
              <a:t>Technical Solution and Implementation Methodology</a:t>
            </a:r>
          </a:p>
        </p:txBody>
      </p:sp>
      <p:pic>
        <p:nvPicPr>
          <p:cNvPr id="9" name="Picture 8">
            <a:extLst>
              <a:ext uri="{FF2B5EF4-FFF2-40B4-BE49-F238E27FC236}">
                <a16:creationId xmlns:a16="http://schemas.microsoft.com/office/drawing/2014/main" id="{406E7069-6992-3AF5-EFAE-0E447339BBA3}"/>
              </a:ext>
            </a:extLst>
          </p:cNvPr>
          <p:cNvPicPr>
            <a:picLocks noChangeAspect="1"/>
          </p:cNvPicPr>
          <p:nvPr/>
        </p:nvPicPr>
        <p:blipFill>
          <a:blip r:embed="rId3"/>
          <a:stretch>
            <a:fillRect/>
          </a:stretch>
        </p:blipFill>
        <p:spPr>
          <a:xfrm>
            <a:off x="8037576" y="3432965"/>
            <a:ext cx="3785791" cy="2722042"/>
          </a:xfrm>
          <a:prstGeom prst="rect">
            <a:avLst/>
          </a:prstGeom>
        </p:spPr>
      </p:pic>
      <p:sp>
        <p:nvSpPr>
          <p:cNvPr id="13" name="TextBox 12">
            <a:extLst>
              <a:ext uri="{FF2B5EF4-FFF2-40B4-BE49-F238E27FC236}">
                <a16:creationId xmlns:a16="http://schemas.microsoft.com/office/drawing/2014/main" id="{E167A0B4-6637-DDA4-EA2E-D75F6973112F}"/>
              </a:ext>
            </a:extLst>
          </p:cNvPr>
          <p:cNvSpPr txBox="1"/>
          <p:nvPr/>
        </p:nvSpPr>
        <p:spPr>
          <a:xfrm>
            <a:off x="8302752" y="2111715"/>
            <a:ext cx="1396886" cy="923330"/>
          </a:xfrm>
          <a:prstGeom prst="rect">
            <a:avLst/>
          </a:prstGeom>
          <a:noFill/>
        </p:spPr>
        <p:txBody>
          <a:bodyPr wrap="square">
            <a:spAutoFit/>
          </a:bodyPr>
          <a:lstStyle/>
          <a:p>
            <a:pPr algn="ctr"/>
            <a:r>
              <a:rPr lang="en-US" dirty="0"/>
              <a:t>UVM Framework Structure</a:t>
            </a:r>
          </a:p>
        </p:txBody>
      </p:sp>
      <p:sp>
        <p:nvSpPr>
          <p:cNvPr id="15" name="TextBox 14">
            <a:extLst>
              <a:ext uri="{FF2B5EF4-FFF2-40B4-BE49-F238E27FC236}">
                <a16:creationId xmlns:a16="http://schemas.microsoft.com/office/drawing/2014/main" id="{B7155D02-ECEB-C225-CB68-53315BB0B1B2}"/>
              </a:ext>
            </a:extLst>
          </p:cNvPr>
          <p:cNvSpPr txBox="1"/>
          <p:nvPr/>
        </p:nvSpPr>
        <p:spPr>
          <a:xfrm>
            <a:off x="8737600" y="6143720"/>
            <a:ext cx="2512314" cy="369332"/>
          </a:xfrm>
          <a:prstGeom prst="rect">
            <a:avLst/>
          </a:prstGeom>
          <a:noFill/>
        </p:spPr>
        <p:txBody>
          <a:bodyPr wrap="square">
            <a:spAutoFit/>
          </a:bodyPr>
          <a:lstStyle/>
          <a:p>
            <a:r>
              <a:rPr lang="en-US" dirty="0"/>
              <a:t>UVM Classes Diagram</a:t>
            </a:r>
          </a:p>
        </p:txBody>
      </p:sp>
      <p:pic>
        <p:nvPicPr>
          <p:cNvPr id="17" name="Picture 16">
            <a:extLst>
              <a:ext uri="{FF2B5EF4-FFF2-40B4-BE49-F238E27FC236}">
                <a16:creationId xmlns:a16="http://schemas.microsoft.com/office/drawing/2014/main" id="{780B67FB-59D7-BC07-6F3D-189314DF040C}"/>
              </a:ext>
            </a:extLst>
          </p:cNvPr>
          <p:cNvPicPr>
            <a:picLocks noChangeAspect="1"/>
          </p:cNvPicPr>
          <p:nvPr/>
        </p:nvPicPr>
        <p:blipFill>
          <a:blip r:embed="rId4"/>
          <a:stretch>
            <a:fillRect/>
          </a:stretch>
        </p:blipFill>
        <p:spPr>
          <a:xfrm>
            <a:off x="134186" y="1222899"/>
            <a:ext cx="5062905" cy="2603779"/>
          </a:xfrm>
          <a:prstGeom prst="rect">
            <a:avLst/>
          </a:prstGeom>
        </p:spPr>
      </p:pic>
      <p:sp>
        <p:nvSpPr>
          <p:cNvPr id="5" name="TextBox 4">
            <a:extLst>
              <a:ext uri="{FF2B5EF4-FFF2-40B4-BE49-F238E27FC236}">
                <a16:creationId xmlns:a16="http://schemas.microsoft.com/office/drawing/2014/main" id="{45CDEFB1-3886-48F6-6DA7-8316D4E877DA}"/>
              </a:ext>
            </a:extLst>
          </p:cNvPr>
          <p:cNvSpPr txBox="1"/>
          <p:nvPr/>
        </p:nvSpPr>
        <p:spPr>
          <a:xfrm>
            <a:off x="923199" y="4490899"/>
            <a:ext cx="6894576" cy="1754326"/>
          </a:xfrm>
          <a:prstGeom prst="rect">
            <a:avLst/>
          </a:prstGeom>
          <a:noFill/>
        </p:spPr>
        <p:txBody>
          <a:bodyPr wrap="square" rtlCol="0">
            <a:spAutoFit/>
          </a:bodyPr>
          <a:lstStyle/>
          <a:p>
            <a:r>
              <a:rPr lang="en-US" dirty="0"/>
              <a:t>+ Stimuli: randomized instruction sequences</a:t>
            </a:r>
          </a:p>
          <a:p>
            <a:r>
              <a:rPr lang="en-US" dirty="0"/>
              <a:t>+ Python script for test generation</a:t>
            </a:r>
          </a:p>
          <a:p>
            <a:r>
              <a:rPr lang="en-US" dirty="0"/>
              <a:t>+ Valid / invalid ISA operations</a:t>
            </a:r>
          </a:p>
          <a:p>
            <a:r>
              <a:rPr lang="en-US" dirty="0"/>
              <a:t>+ Functional coverage, code coverage</a:t>
            </a:r>
          </a:p>
          <a:p>
            <a:r>
              <a:rPr lang="en-US" dirty="0"/>
              <a:t>+ Corner cases: interrupts, asynchronous reset, hardware faults</a:t>
            </a:r>
          </a:p>
          <a:p>
            <a:r>
              <a:rPr lang="en-US" dirty="0"/>
              <a:t>+ Self-checking testbench</a:t>
            </a:r>
          </a:p>
        </p:txBody>
      </p:sp>
      <p:sp>
        <p:nvSpPr>
          <p:cNvPr id="21" name="TextBox 20">
            <a:extLst>
              <a:ext uri="{FF2B5EF4-FFF2-40B4-BE49-F238E27FC236}">
                <a16:creationId xmlns:a16="http://schemas.microsoft.com/office/drawing/2014/main" id="{B41884D4-3845-9478-FFDC-11CE7849D1C9}"/>
              </a:ext>
            </a:extLst>
          </p:cNvPr>
          <p:cNvSpPr txBox="1"/>
          <p:nvPr/>
        </p:nvSpPr>
        <p:spPr>
          <a:xfrm>
            <a:off x="862172" y="3794835"/>
            <a:ext cx="3334924" cy="369332"/>
          </a:xfrm>
          <a:prstGeom prst="rect">
            <a:avLst/>
          </a:prstGeom>
          <a:noFill/>
        </p:spPr>
        <p:txBody>
          <a:bodyPr wrap="square">
            <a:spAutoFit/>
          </a:bodyPr>
          <a:lstStyle/>
          <a:p>
            <a:r>
              <a:rPr lang="en-US" dirty="0"/>
              <a:t>RISC-V RV32IMFCXpulp core</a:t>
            </a:r>
          </a:p>
        </p:txBody>
      </p:sp>
      <p:sp>
        <p:nvSpPr>
          <p:cNvPr id="23" name="TextBox 22">
            <a:extLst>
              <a:ext uri="{FF2B5EF4-FFF2-40B4-BE49-F238E27FC236}">
                <a16:creationId xmlns:a16="http://schemas.microsoft.com/office/drawing/2014/main" id="{C9AD9895-3138-96D2-7A9A-DDD013CA7642}"/>
              </a:ext>
            </a:extLst>
          </p:cNvPr>
          <p:cNvSpPr txBox="1"/>
          <p:nvPr/>
        </p:nvSpPr>
        <p:spPr>
          <a:xfrm>
            <a:off x="5345432" y="3441173"/>
            <a:ext cx="2420874" cy="646331"/>
          </a:xfrm>
          <a:prstGeom prst="rect">
            <a:avLst/>
          </a:prstGeom>
          <a:noFill/>
        </p:spPr>
        <p:txBody>
          <a:bodyPr wrap="square">
            <a:spAutoFit/>
          </a:bodyPr>
          <a:lstStyle/>
          <a:p>
            <a:pPr algn="ctr"/>
            <a:r>
              <a:rPr lang="en-US" dirty="0"/>
              <a:t>Functional Verification Aspects</a:t>
            </a:r>
          </a:p>
        </p:txBody>
      </p:sp>
      <p:pic>
        <p:nvPicPr>
          <p:cNvPr id="26" name="Picture 25">
            <a:extLst>
              <a:ext uri="{FF2B5EF4-FFF2-40B4-BE49-F238E27FC236}">
                <a16:creationId xmlns:a16="http://schemas.microsoft.com/office/drawing/2014/main" id="{913E64AB-F5B9-FAD7-34DC-1C23B5871E9D}"/>
              </a:ext>
            </a:extLst>
          </p:cNvPr>
          <p:cNvPicPr>
            <a:picLocks noChangeAspect="1"/>
          </p:cNvPicPr>
          <p:nvPr/>
        </p:nvPicPr>
        <p:blipFill>
          <a:blip r:embed="rId5"/>
          <a:srcRect l="5126" t="6612" r="5125" b="8978"/>
          <a:stretch>
            <a:fillRect/>
          </a:stretch>
        </p:blipFill>
        <p:spPr>
          <a:xfrm>
            <a:off x="5211738" y="1805185"/>
            <a:ext cx="2880530" cy="1632422"/>
          </a:xfrm>
          <a:custGeom>
            <a:avLst/>
            <a:gdLst>
              <a:gd name="connsiteX0" fmla="*/ 1440265 w 2880530"/>
              <a:gd name="connsiteY0" fmla="*/ 0 h 1632422"/>
              <a:gd name="connsiteX1" fmla="*/ 2880530 w 2880530"/>
              <a:gd name="connsiteY1" fmla="*/ 816211 h 1632422"/>
              <a:gd name="connsiteX2" fmla="*/ 1440265 w 2880530"/>
              <a:gd name="connsiteY2" fmla="*/ 1632422 h 1632422"/>
              <a:gd name="connsiteX3" fmla="*/ 0 w 2880530"/>
              <a:gd name="connsiteY3" fmla="*/ 816211 h 1632422"/>
              <a:gd name="connsiteX4" fmla="*/ 1440265 w 2880530"/>
              <a:gd name="connsiteY4" fmla="*/ 0 h 1632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530" h="1632422">
                <a:moveTo>
                  <a:pt x="1440265" y="0"/>
                </a:moveTo>
                <a:cubicBezTo>
                  <a:pt x="2235701" y="0"/>
                  <a:pt x="2880530" y="365430"/>
                  <a:pt x="2880530" y="816211"/>
                </a:cubicBezTo>
                <a:cubicBezTo>
                  <a:pt x="2880530" y="1266992"/>
                  <a:pt x="2235701" y="1632422"/>
                  <a:pt x="1440265" y="1632422"/>
                </a:cubicBezTo>
                <a:cubicBezTo>
                  <a:pt x="644829" y="1632422"/>
                  <a:pt x="0" y="1266992"/>
                  <a:pt x="0" y="816211"/>
                </a:cubicBezTo>
                <a:cubicBezTo>
                  <a:pt x="0" y="365430"/>
                  <a:pt x="644829" y="0"/>
                  <a:pt x="1440265" y="0"/>
                </a:cubicBezTo>
                <a:close/>
              </a:path>
            </a:pathLst>
          </a:custGeom>
        </p:spPr>
      </p:pic>
      <p:sp>
        <p:nvSpPr>
          <p:cNvPr id="2" name="Slide Number Placeholder 1">
            <a:extLst>
              <a:ext uri="{FF2B5EF4-FFF2-40B4-BE49-F238E27FC236}">
                <a16:creationId xmlns:a16="http://schemas.microsoft.com/office/drawing/2014/main" id="{4F3A3178-8B6D-EFD0-85C4-B3465CB9C98D}"/>
              </a:ext>
            </a:extLst>
          </p:cNvPr>
          <p:cNvSpPr>
            <a:spLocks noGrp="1"/>
          </p:cNvSpPr>
          <p:nvPr>
            <p:ph type="sldNum" sz="quarter" idx="12"/>
          </p:nvPr>
        </p:nvSpPr>
        <p:spPr/>
        <p:txBody>
          <a:bodyPr/>
          <a:lstStyle/>
          <a:p>
            <a:fld id="{05F3D0EC-E5D6-4C0D-98AB-7F70DA2736DE}" type="slidenum">
              <a:rPr lang="en-US" smtClean="0"/>
              <a:t>18</a:t>
            </a:fld>
            <a:endParaRPr lang="en-US"/>
          </a:p>
        </p:txBody>
      </p:sp>
    </p:spTree>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B0745-3B63-8DF8-471B-1CAC6633FB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5990E8-B885-83C3-6466-881909444588}"/>
              </a:ext>
            </a:extLst>
          </p:cNvPr>
          <p:cNvSpPr txBox="1"/>
          <p:nvPr/>
        </p:nvSpPr>
        <p:spPr>
          <a:xfrm>
            <a:off x="703990" y="401854"/>
            <a:ext cx="3300984" cy="430887"/>
          </a:xfrm>
          <a:prstGeom prst="rect">
            <a:avLst/>
          </a:prstGeom>
          <a:noFill/>
        </p:spPr>
        <p:txBody>
          <a:bodyPr wrap="square" rtlCol="0">
            <a:spAutoFit/>
          </a:bodyPr>
          <a:lstStyle/>
          <a:p>
            <a:r>
              <a:rPr lang="en-US" sz="2200" b="1" dirty="0">
                <a:latin typeface="Times New Roman" panose="02020603050405020304" charset="0"/>
                <a:cs typeface="Times New Roman" panose="02020603050405020304" charset="0"/>
                <a:sym typeface="+mn-ea"/>
              </a:rPr>
              <a:t>Results and Evaluation</a:t>
            </a:r>
          </a:p>
        </p:txBody>
      </p:sp>
      <p:pic>
        <p:nvPicPr>
          <p:cNvPr id="12" name="Picture 11">
            <a:extLst>
              <a:ext uri="{FF2B5EF4-FFF2-40B4-BE49-F238E27FC236}">
                <a16:creationId xmlns:a16="http://schemas.microsoft.com/office/drawing/2014/main" id="{C11839CE-BDDA-F6C7-82CF-2EBFBF35C22F}"/>
              </a:ext>
            </a:extLst>
          </p:cNvPr>
          <p:cNvPicPr>
            <a:picLocks noChangeAspect="1"/>
          </p:cNvPicPr>
          <p:nvPr/>
        </p:nvPicPr>
        <p:blipFill>
          <a:blip r:embed="rId2"/>
          <a:stretch>
            <a:fillRect/>
          </a:stretch>
        </p:blipFill>
        <p:spPr>
          <a:xfrm>
            <a:off x="6106059" y="558868"/>
            <a:ext cx="6012552" cy="3965007"/>
          </a:xfrm>
          <a:prstGeom prst="rect">
            <a:avLst/>
          </a:prstGeom>
        </p:spPr>
      </p:pic>
      <p:sp>
        <p:nvSpPr>
          <p:cNvPr id="14" name="TextBox 13">
            <a:extLst>
              <a:ext uri="{FF2B5EF4-FFF2-40B4-BE49-F238E27FC236}">
                <a16:creationId xmlns:a16="http://schemas.microsoft.com/office/drawing/2014/main" id="{1ABBFD1C-F82C-2F4E-6A9B-6F28A2BAE46C}"/>
              </a:ext>
            </a:extLst>
          </p:cNvPr>
          <p:cNvSpPr txBox="1"/>
          <p:nvPr/>
        </p:nvSpPr>
        <p:spPr>
          <a:xfrm>
            <a:off x="8038420" y="4390601"/>
            <a:ext cx="2932938" cy="369332"/>
          </a:xfrm>
          <a:prstGeom prst="rect">
            <a:avLst/>
          </a:prstGeom>
          <a:noFill/>
        </p:spPr>
        <p:txBody>
          <a:bodyPr wrap="square">
            <a:spAutoFit/>
          </a:bodyPr>
          <a:lstStyle/>
          <a:p>
            <a:r>
              <a:rPr lang="en-US" dirty="0"/>
              <a:t>Plot of simulation summary</a:t>
            </a:r>
          </a:p>
        </p:txBody>
      </p:sp>
      <p:sp>
        <p:nvSpPr>
          <p:cNvPr id="18" name="TextBox 17">
            <a:extLst>
              <a:ext uri="{FF2B5EF4-FFF2-40B4-BE49-F238E27FC236}">
                <a16:creationId xmlns:a16="http://schemas.microsoft.com/office/drawing/2014/main" id="{EC598D8D-1B91-F998-9F72-89E98D08A130}"/>
              </a:ext>
            </a:extLst>
          </p:cNvPr>
          <p:cNvSpPr txBox="1"/>
          <p:nvPr/>
        </p:nvSpPr>
        <p:spPr>
          <a:xfrm>
            <a:off x="1833002" y="2777398"/>
            <a:ext cx="2558034" cy="369332"/>
          </a:xfrm>
          <a:prstGeom prst="rect">
            <a:avLst/>
          </a:prstGeom>
          <a:noFill/>
        </p:spPr>
        <p:txBody>
          <a:bodyPr wrap="square">
            <a:spAutoFit/>
          </a:bodyPr>
          <a:lstStyle/>
          <a:p>
            <a:r>
              <a:rPr lang="en-US" dirty="0"/>
              <a:t>Coverage Trend frame </a:t>
            </a:r>
          </a:p>
        </p:txBody>
      </p:sp>
      <p:pic>
        <p:nvPicPr>
          <p:cNvPr id="20" name="Picture 19">
            <a:extLst>
              <a:ext uri="{FF2B5EF4-FFF2-40B4-BE49-F238E27FC236}">
                <a16:creationId xmlns:a16="http://schemas.microsoft.com/office/drawing/2014/main" id="{CD3786CE-F420-E720-7DAE-5C310D699C03}"/>
              </a:ext>
            </a:extLst>
          </p:cNvPr>
          <p:cNvPicPr>
            <a:picLocks noChangeAspect="1"/>
          </p:cNvPicPr>
          <p:nvPr/>
        </p:nvPicPr>
        <p:blipFill>
          <a:blip r:embed="rId3"/>
          <a:stretch>
            <a:fillRect/>
          </a:stretch>
        </p:blipFill>
        <p:spPr>
          <a:xfrm>
            <a:off x="703990" y="907313"/>
            <a:ext cx="4816058" cy="1882138"/>
          </a:xfrm>
          <a:prstGeom prst="rect">
            <a:avLst/>
          </a:prstGeom>
        </p:spPr>
      </p:pic>
      <p:pic>
        <p:nvPicPr>
          <p:cNvPr id="22" name="Picture 21">
            <a:extLst>
              <a:ext uri="{FF2B5EF4-FFF2-40B4-BE49-F238E27FC236}">
                <a16:creationId xmlns:a16="http://schemas.microsoft.com/office/drawing/2014/main" id="{6454FF88-0042-EB76-B29F-F7675EE92D33}"/>
              </a:ext>
            </a:extLst>
          </p:cNvPr>
          <p:cNvPicPr>
            <a:picLocks noChangeAspect="1"/>
          </p:cNvPicPr>
          <p:nvPr/>
        </p:nvPicPr>
        <p:blipFill>
          <a:blip r:embed="rId4"/>
          <a:stretch>
            <a:fillRect/>
          </a:stretch>
        </p:blipFill>
        <p:spPr>
          <a:xfrm>
            <a:off x="128039" y="3221302"/>
            <a:ext cx="5967961" cy="2991394"/>
          </a:xfrm>
          <a:prstGeom prst="rect">
            <a:avLst/>
          </a:prstGeom>
        </p:spPr>
      </p:pic>
      <p:sp>
        <p:nvSpPr>
          <p:cNvPr id="24" name="TextBox 23">
            <a:extLst>
              <a:ext uri="{FF2B5EF4-FFF2-40B4-BE49-F238E27FC236}">
                <a16:creationId xmlns:a16="http://schemas.microsoft.com/office/drawing/2014/main" id="{2DE08881-1A11-109B-D035-4130378DFD00}"/>
              </a:ext>
            </a:extLst>
          </p:cNvPr>
          <p:cNvSpPr txBox="1"/>
          <p:nvPr/>
        </p:nvSpPr>
        <p:spPr>
          <a:xfrm>
            <a:off x="2119414" y="6200643"/>
            <a:ext cx="1985211" cy="369332"/>
          </a:xfrm>
          <a:prstGeom prst="rect">
            <a:avLst/>
          </a:prstGeom>
          <a:noFill/>
        </p:spPr>
        <p:txBody>
          <a:bodyPr wrap="square">
            <a:spAutoFit/>
          </a:bodyPr>
          <a:lstStyle/>
          <a:p>
            <a:r>
              <a:rPr lang="en-US" dirty="0"/>
              <a:t>Coverage Report</a:t>
            </a:r>
          </a:p>
        </p:txBody>
      </p:sp>
      <p:sp>
        <p:nvSpPr>
          <p:cNvPr id="25" name="TextBox 24">
            <a:extLst>
              <a:ext uri="{FF2B5EF4-FFF2-40B4-BE49-F238E27FC236}">
                <a16:creationId xmlns:a16="http://schemas.microsoft.com/office/drawing/2014/main" id="{7688D26C-94FA-BA77-F6DE-B6BABF5209C3}"/>
              </a:ext>
            </a:extLst>
          </p:cNvPr>
          <p:cNvSpPr txBox="1"/>
          <p:nvPr/>
        </p:nvSpPr>
        <p:spPr>
          <a:xfrm>
            <a:off x="6339948" y="4963883"/>
            <a:ext cx="5778663" cy="1477328"/>
          </a:xfrm>
          <a:prstGeom prst="rect">
            <a:avLst/>
          </a:prstGeom>
          <a:noFill/>
        </p:spPr>
        <p:txBody>
          <a:bodyPr wrap="square" rtlCol="0">
            <a:spAutoFit/>
          </a:bodyPr>
          <a:lstStyle/>
          <a:p>
            <a:r>
              <a:rPr lang="en-US" dirty="0"/>
              <a:t>+ UVM: flexible, reusable, standardized</a:t>
            </a:r>
          </a:p>
          <a:p>
            <a:r>
              <a:rPr lang="en-US" dirty="0"/>
              <a:t>+ Randomized stimuli: comprehensive exploration</a:t>
            </a:r>
          </a:p>
          <a:p>
            <a:r>
              <a:rPr lang="en-US" dirty="0"/>
              <a:t>+ Coverage-driven: measurable verification progress</a:t>
            </a:r>
          </a:p>
          <a:p>
            <a:r>
              <a:rPr lang="en-US" dirty="0"/>
              <a:t>+ Reliable pre-silicon validation → reduced risk before tape-out</a:t>
            </a:r>
          </a:p>
        </p:txBody>
      </p:sp>
      <p:sp>
        <p:nvSpPr>
          <p:cNvPr id="2" name="Slide Number Placeholder 1">
            <a:extLst>
              <a:ext uri="{FF2B5EF4-FFF2-40B4-BE49-F238E27FC236}">
                <a16:creationId xmlns:a16="http://schemas.microsoft.com/office/drawing/2014/main" id="{BBC44FE1-BE43-684B-362E-4A4FBA7924F6}"/>
              </a:ext>
            </a:extLst>
          </p:cNvPr>
          <p:cNvSpPr>
            <a:spLocks noGrp="1"/>
          </p:cNvSpPr>
          <p:nvPr>
            <p:ph type="sldNum" sz="quarter" idx="12"/>
          </p:nvPr>
        </p:nvSpPr>
        <p:spPr/>
        <p:txBody>
          <a:bodyPr/>
          <a:lstStyle/>
          <a:p>
            <a:fld id="{05F3D0EC-E5D6-4C0D-98AB-7F70DA2736DE}" type="slidenum">
              <a:rPr lang="en-US" smtClean="0"/>
              <a:t>19</a:t>
            </a:fld>
            <a:endParaRPr lang="en-US"/>
          </a:p>
        </p:txBody>
      </p:sp>
    </p:spTree>
    <p:extLst>
      <p:ext uri="{BB962C8B-B14F-4D97-AF65-F5344CB8AC3E}">
        <p14:creationId xmlns:p14="http://schemas.microsoft.com/office/powerpoint/2010/main" val="3533139707"/>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6A23A4-EE8C-10D2-8B4D-EA32D15FB6D9}"/>
              </a:ext>
            </a:extLst>
          </p:cNvPr>
          <p:cNvSpPr>
            <a:spLocks noGrp="1"/>
          </p:cNvSpPr>
          <p:nvPr>
            <p:ph type="sldNum" sz="quarter" idx="12"/>
          </p:nvPr>
        </p:nvSpPr>
        <p:spPr/>
        <p:txBody>
          <a:bodyPr/>
          <a:lstStyle/>
          <a:p>
            <a:fld id="{05F3D0EC-E5D6-4C0D-98AB-7F70DA2736DE}" type="slidenum">
              <a:rPr lang="en-US" smtClean="0"/>
              <a:t>20</a:t>
            </a:fld>
            <a:endParaRPr lang="en-US"/>
          </a:p>
        </p:txBody>
      </p:sp>
      <p:sp>
        <p:nvSpPr>
          <p:cNvPr id="8" name="TextBox 7">
            <a:extLst>
              <a:ext uri="{FF2B5EF4-FFF2-40B4-BE49-F238E27FC236}">
                <a16:creationId xmlns:a16="http://schemas.microsoft.com/office/drawing/2014/main" id="{C966AC2D-3F22-4851-7516-056E7FBCD29F}"/>
              </a:ext>
            </a:extLst>
          </p:cNvPr>
          <p:cNvSpPr txBox="1"/>
          <p:nvPr/>
        </p:nvSpPr>
        <p:spPr>
          <a:xfrm>
            <a:off x="4104966" y="656349"/>
            <a:ext cx="3982065" cy="430887"/>
          </a:xfrm>
          <a:prstGeom prst="rect">
            <a:avLst/>
          </a:prstGeom>
          <a:noFill/>
        </p:spPr>
        <p:txBody>
          <a:bodyPr wrap="square">
            <a:spAutoFit/>
          </a:bodyPr>
          <a:lstStyle/>
          <a:p>
            <a:r>
              <a:rPr lang="en-US" sz="2200" b="1" dirty="0"/>
              <a:t>Table Summary of 5 Articles</a:t>
            </a:r>
          </a:p>
        </p:txBody>
      </p:sp>
      <p:pic>
        <p:nvPicPr>
          <p:cNvPr id="3" name="Picture 2">
            <a:extLst>
              <a:ext uri="{FF2B5EF4-FFF2-40B4-BE49-F238E27FC236}">
                <a16:creationId xmlns:a16="http://schemas.microsoft.com/office/drawing/2014/main" id="{0AB027CA-7D69-C0EF-91AB-80F56C8497DD}"/>
              </a:ext>
            </a:extLst>
          </p:cNvPr>
          <p:cNvPicPr>
            <a:picLocks noChangeAspect="1"/>
          </p:cNvPicPr>
          <p:nvPr/>
        </p:nvPicPr>
        <p:blipFill>
          <a:blip r:embed="rId2"/>
          <a:stretch>
            <a:fillRect/>
          </a:stretch>
        </p:blipFill>
        <p:spPr>
          <a:xfrm>
            <a:off x="915386" y="1481741"/>
            <a:ext cx="10566967" cy="4584762"/>
          </a:xfrm>
          <a:prstGeom prst="rect">
            <a:avLst/>
          </a:prstGeom>
        </p:spPr>
      </p:pic>
    </p:spTree>
    <p:extLst>
      <p:ext uri="{BB962C8B-B14F-4D97-AF65-F5344CB8AC3E}">
        <p14:creationId xmlns:p14="http://schemas.microsoft.com/office/powerpoint/2010/main" val="2248767669"/>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2CA2A4-6DC0-05AD-CE1B-ED43B20A7ACB}"/>
              </a:ext>
            </a:extLst>
          </p:cNvPr>
          <p:cNvSpPr>
            <a:spLocks noGrp="1"/>
          </p:cNvSpPr>
          <p:nvPr>
            <p:ph type="sldNum" sz="quarter" idx="12"/>
          </p:nvPr>
        </p:nvSpPr>
        <p:spPr/>
        <p:txBody>
          <a:bodyPr/>
          <a:lstStyle/>
          <a:p>
            <a:fld id="{05F3D0EC-E5D6-4C0D-98AB-7F70DA2736DE}" type="slidenum">
              <a:rPr lang="en-US" smtClean="0"/>
              <a:t>21</a:t>
            </a:fld>
            <a:endParaRPr lang="en-US"/>
          </a:p>
        </p:txBody>
      </p:sp>
      <p:sp>
        <p:nvSpPr>
          <p:cNvPr id="6" name="TextBox 5">
            <a:extLst>
              <a:ext uri="{FF2B5EF4-FFF2-40B4-BE49-F238E27FC236}">
                <a16:creationId xmlns:a16="http://schemas.microsoft.com/office/drawing/2014/main" id="{DE2922B1-8BD7-502E-571E-1132F89A53DB}"/>
              </a:ext>
            </a:extLst>
          </p:cNvPr>
          <p:cNvSpPr txBox="1"/>
          <p:nvPr/>
        </p:nvSpPr>
        <p:spPr>
          <a:xfrm>
            <a:off x="589935" y="1194574"/>
            <a:ext cx="6096000" cy="1508105"/>
          </a:xfrm>
          <a:prstGeom prst="rect">
            <a:avLst/>
          </a:prstGeom>
          <a:noFill/>
        </p:spPr>
        <p:txBody>
          <a:bodyPr wrap="square">
            <a:spAutoFit/>
          </a:bodyPr>
          <a:lstStyle/>
          <a:p>
            <a:r>
              <a:rPr lang="en-US" sz="2000" b="1" dirty="0"/>
              <a:t>Common Points</a:t>
            </a:r>
            <a:endParaRPr lang="en-US" sz="2000" dirty="0"/>
          </a:p>
          <a:p>
            <a:r>
              <a:rPr lang="en-US" dirty="0"/>
              <a:t>RISC-V ISA → foundation for all works</a:t>
            </a:r>
          </a:p>
          <a:p>
            <a:r>
              <a:rPr lang="en-US" dirty="0"/>
              <a:t>5-stage pipeline as baseline design</a:t>
            </a:r>
          </a:p>
          <a:p>
            <a:r>
              <a:rPr lang="en-US" dirty="0"/>
              <a:t>UVM → main verification methodology</a:t>
            </a:r>
          </a:p>
          <a:p>
            <a:r>
              <a:rPr lang="en-US" dirty="0"/>
              <a:t>Coverage &amp; automation are key metrics</a:t>
            </a:r>
          </a:p>
        </p:txBody>
      </p:sp>
      <p:sp>
        <p:nvSpPr>
          <p:cNvPr id="8" name="TextBox 7">
            <a:extLst>
              <a:ext uri="{FF2B5EF4-FFF2-40B4-BE49-F238E27FC236}">
                <a16:creationId xmlns:a16="http://schemas.microsoft.com/office/drawing/2014/main" id="{B7AEE4A3-B9F1-4A2D-3E5E-7A224C406905}"/>
              </a:ext>
            </a:extLst>
          </p:cNvPr>
          <p:cNvSpPr txBox="1"/>
          <p:nvPr/>
        </p:nvSpPr>
        <p:spPr>
          <a:xfrm>
            <a:off x="589935" y="2995137"/>
            <a:ext cx="6096000" cy="1508105"/>
          </a:xfrm>
          <a:prstGeom prst="rect">
            <a:avLst/>
          </a:prstGeom>
          <a:noFill/>
        </p:spPr>
        <p:txBody>
          <a:bodyPr wrap="square">
            <a:spAutoFit/>
          </a:bodyPr>
          <a:lstStyle/>
          <a:p>
            <a:r>
              <a:rPr lang="en-US" sz="2000" b="1" dirty="0"/>
              <a:t>Differences</a:t>
            </a:r>
            <a:endParaRPr lang="en-US" sz="2000" dirty="0"/>
          </a:p>
          <a:p>
            <a:r>
              <a:rPr lang="en-US" dirty="0"/>
              <a:t>Survey (1) vs. FPGA implementation (2)</a:t>
            </a:r>
          </a:p>
          <a:p>
            <a:r>
              <a:rPr lang="en-US" dirty="0"/>
              <a:t>SoC-level (3) vs. Core-level (5)</a:t>
            </a:r>
          </a:p>
          <a:p>
            <a:r>
              <a:rPr lang="en-US" dirty="0"/>
              <a:t>HLS-based design (4) vs. RTL-based flows</a:t>
            </a:r>
          </a:p>
          <a:p>
            <a:r>
              <a:rPr lang="en-US" dirty="0"/>
              <a:t>Theory (1) vs. Practical case studies (2–5)</a:t>
            </a:r>
          </a:p>
        </p:txBody>
      </p:sp>
      <p:sp>
        <p:nvSpPr>
          <p:cNvPr id="10" name="TextBox 9">
            <a:extLst>
              <a:ext uri="{FF2B5EF4-FFF2-40B4-BE49-F238E27FC236}">
                <a16:creationId xmlns:a16="http://schemas.microsoft.com/office/drawing/2014/main" id="{78D9171F-49AF-0AAA-3BCB-61A12B273597}"/>
              </a:ext>
            </a:extLst>
          </p:cNvPr>
          <p:cNvSpPr txBox="1"/>
          <p:nvPr/>
        </p:nvSpPr>
        <p:spPr>
          <a:xfrm>
            <a:off x="589935" y="4795700"/>
            <a:ext cx="11238271" cy="1323439"/>
          </a:xfrm>
          <a:prstGeom prst="rect">
            <a:avLst/>
          </a:prstGeom>
          <a:noFill/>
        </p:spPr>
        <p:txBody>
          <a:bodyPr wrap="square">
            <a:spAutoFit/>
          </a:bodyPr>
          <a:lstStyle/>
          <a:p>
            <a:r>
              <a:rPr lang="en-US" sz="2000" b="1" dirty="0"/>
              <a:t>Overall Insights</a:t>
            </a:r>
          </a:p>
          <a:p>
            <a:r>
              <a:rPr lang="en-US" sz="2000" dirty="0"/>
              <a:t>Survey complements implementations → </a:t>
            </a:r>
            <a:r>
              <a:rPr lang="en-US" sz="2000" b="1" dirty="0"/>
              <a:t>theory</a:t>
            </a:r>
            <a:r>
              <a:rPr lang="en-US" sz="2000" dirty="0"/>
              <a:t> + </a:t>
            </a:r>
            <a:r>
              <a:rPr lang="en-US" sz="2000" b="1" dirty="0"/>
              <a:t>practice</a:t>
            </a:r>
          </a:p>
          <a:p>
            <a:r>
              <a:rPr lang="en-US" sz="2000" dirty="0"/>
              <a:t>UVM proves flexible: pipeline CPU, SoC, HLS, fault tolerance</a:t>
            </a:r>
          </a:p>
          <a:p>
            <a:r>
              <a:rPr lang="en-US" sz="2000" dirty="0"/>
              <a:t>Trend: </a:t>
            </a:r>
            <a:r>
              <a:rPr lang="en-US" sz="2000" b="1" dirty="0"/>
              <a:t>automation (HLS) + robust UVM verification </a:t>
            </a:r>
            <a:r>
              <a:rPr lang="en-US" sz="2000" dirty="0"/>
              <a:t>→ scalable, reliable RISC-V SoCs</a:t>
            </a:r>
          </a:p>
        </p:txBody>
      </p:sp>
      <p:pic>
        <p:nvPicPr>
          <p:cNvPr id="1026" name="Picture 2" descr="RISC-V Announces First New Specifications of 2022, Adding to 16 Ratified in  2021 | RISC-V International – RISC-V International">
            <a:extLst>
              <a:ext uri="{FF2B5EF4-FFF2-40B4-BE49-F238E27FC236}">
                <a16:creationId xmlns:a16="http://schemas.microsoft.com/office/drawing/2014/main" id="{128DA9DF-EF43-6993-3A58-0B8C5F9EC8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381" b="29508"/>
          <a:stretch>
            <a:fillRect/>
          </a:stretch>
        </p:blipFill>
        <p:spPr bwMode="auto">
          <a:xfrm>
            <a:off x="6410636" y="1356853"/>
            <a:ext cx="5683044" cy="11543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ntmicro · Initial open source support for UVM testbenches in Verilator">
            <a:extLst>
              <a:ext uri="{FF2B5EF4-FFF2-40B4-BE49-F238E27FC236}">
                <a16:creationId xmlns:a16="http://schemas.microsoft.com/office/drawing/2014/main" id="{4AF27EAA-8263-2F0B-B342-0DF284DA5D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7607" y="2549818"/>
            <a:ext cx="4485968" cy="252335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F889522-1AB5-8EC2-20B0-60A2B1C03A81}"/>
              </a:ext>
            </a:extLst>
          </p:cNvPr>
          <p:cNvSpPr txBox="1"/>
          <p:nvPr/>
        </p:nvSpPr>
        <p:spPr>
          <a:xfrm>
            <a:off x="4297931" y="583216"/>
            <a:ext cx="4225410" cy="461665"/>
          </a:xfrm>
          <a:prstGeom prst="rect">
            <a:avLst/>
          </a:prstGeom>
          <a:noFill/>
        </p:spPr>
        <p:txBody>
          <a:bodyPr wrap="square">
            <a:spAutoFit/>
          </a:bodyPr>
          <a:lstStyle/>
          <a:p>
            <a:pPr algn="ctr"/>
            <a:r>
              <a:rPr lang="en-US" sz="2400" b="1" dirty="0"/>
              <a:t>Relationships &amp; Insights</a:t>
            </a:r>
          </a:p>
        </p:txBody>
      </p:sp>
    </p:spTree>
    <p:extLst>
      <p:ext uri="{BB962C8B-B14F-4D97-AF65-F5344CB8AC3E}">
        <p14:creationId xmlns:p14="http://schemas.microsoft.com/office/powerpoint/2010/main" val="2151706156"/>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01FCAE-A7BF-A7B1-A57E-DBEADA84C619}"/>
              </a:ext>
            </a:extLst>
          </p:cNvPr>
          <p:cNvSpPr>
            <a:spLocks noGrp="1"/>
          </p:cNvSpPr>
          <p:nvPr>
            <p:ph type="sldNum" sz="quarter" idx="12"/>
          </p:nvPr>
        </p:nvSpPr>
        <p:spPr/>
        <p:txBody>
          <a:bodyPr/>
          <a:lstStyle/>
          <a:p>
            <a:fld id="{05F3D0EC-E5D6-4C0D-98AB-7F70DA2736DE}" type="slidenum">
              <a:rPr lang="en-US" smtClean="0"/>
              <a:t>22</a:t>
            </a:fld>
            <a:endParaRPr lang="en-US"/>
          </a:p>
        </p:txBody>
      </p:sp>
    </p:spTree>
    <p:extLst>
      <p:ext uri="{BB962C8B-B14F-4D97-AF65-F5344CB8AC3E}">
        <p14:creationId xmlns:p14="http://schemas.microsoft.com/office/powerpoint/2010/main" val="3966666154"/>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
</file>

<file path=ppt/theme/theme1.xml><?xml version="1.0" encoding="utf-8"?>
<a:theme xmlns:a="http://schemas.openxmlformats.org/drawingml/2006/main" name="6">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6</Template>
  <TotalTime>197</TotalTime>
  <Words>1692</Words>
  <Application>Microsoft Office PowerPoint</Application>
  <PresentationFormat>Widescreen</PresentationFormat>
  <Paragraphs>207</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Yu Gothic</vt:lpstr>
      <vt:lpstr>Aptos</vt:lpstr>
      <vt:lpstr>Arial</vt:lpstr>
      <vt:lpstr>Times New Roman</vt:lpstr>
      <vt:lpstr>6</vt:lpstr>
      <vt:lpstr>Project: VERIFICATION OF A 5-STAGE PIPELINED RISC-V RV32IM PROCESSOR USING UVM</vt:lpstr>
      <vt:lpstr>PowerPoint Presentation</vt:lpstr>
      <vt:lpstr>1. Technical problem.</vt:lpstr>
      <vt:lpstr>PowerPoint Presentation</vt:lpstr>
      <vt:lpstr>PowerPoint Presentation</vt:lpstr>
      <vt:lpstr>1. Technical Problem</vt:lpstr>
      <vt:lpstr>PowerPoint Presentation</vt:lpstr>
      <vt:lpstr>3. Results and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 Huynh</dc:creator>
  <cp:lastModifiedBy>Luc Huynh</cp:lastModifiedBy>
  <cp:revision>29</cp:revision>
  <dcterms:created xsi:type="dcterms:W3CDTF">2025-09-08T01:29:00Z</dcterms:created>
  <dcterms:modified xsi:type="dcterms:W3CDTF">2025-09-08T06:36:48Z</dcterms:modified>
</cp:coreProperties>
</file>